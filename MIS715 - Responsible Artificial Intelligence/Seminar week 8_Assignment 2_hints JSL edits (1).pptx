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9"/>
  </p:notesMasterIdLst>
  <p:sldIdLst>
    <p:sldId id="362" r:id="rId5"/>
    <p:sldId id="257" r:id="rId6"/>
    <p:sldId id="358" r:id="rId7"/>
    <p:sldId id="352" r:id="rId8"/>
    <p:sldId id="366" r:id="rId9"/>
    <p:sldId id="364" r:id="rId10"/>
    <p:sldId id="368" r:id="rId11"/>
    <p:sldId id="365" r:id="rId12"/>
    <p:sldId id="357" r:id="rId13"/>
    <p:sldId id="369" r:id="rId14"/>
    <p:sldId id="370" r:id="rId15"/>
    <p:sldId id="371" r:id="rId16"/>
    <p:sldId id="287" r:id="rId17"/>
    <p:sldId id="3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9"/>
    <p:restoredTop sz="89109" autoAdjust="0"/>
  </p:normalViewPr>
  <p:slideViewPr>
    <p:cSldViewPr snapToGrid="0" snapToObjects="1">
      <p:cViewPr varScale="1">
        <p:scale>
          <a:sx n="109" d="100"/>
          <a:sy n="109" d="100"/>
        </p:scale>
        <p:origin x="1632"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son Lamchek" userId="92ed9f8b-117b-44a7-b26e-5138de63a6d4" providerId="ADAL" clId="{7711FE9A-A679-3D4D-9EEB-0B26C4A306BD}"/>
    <pc:docChg chg="modSld">
      <pc:chgData name="Jayson Lamchek" userId="92ed9f8b-117b-44a7-b26e-5138de63a6d4" providerId="ADAL" clId="{7711FE9A-A679-3D4D-9EEB-0B26C4A306BD}" dt="2025-04-05T02:58:09.780" v="0"/>
      <pc:docMkLst>
        <pc:docMk/>
      </pc:docMkLst>
      <pc:sldChg chg="modSp mod">
        <pc:chgData name="Jayson Lamchek" userId="92ed9f8b-117b-44a7-b26e-5138de63a6d4" providerId="ADAL" clId="{7711FE9A-A679-3D4D-9EEB-0B26C4A306BD}" dt="2025-04-05T02:58:09.780" v="0"/>
        <pc:sldMkLst>
          <pc:docMk/>
          <pc:sldMk cId="755877255" sldId="287"/>
        </pc:sldMkLst>
        <pc:spChg chg="mod">
          <ac:chgData name="Jayson Lamchek" userId="92ed9f8b-117b-44a7-b26e-5138de63a6d4" providerId="ADAL" clId="{7711FE9A-A679-3D4D-9EEB-0B26C4A306BD}" dt="2025-04-05T02:58:09.780" v="0"/>
          <ac:spMkLst>
            <pc:docMk/>
            <pc:sldMk cId="755877255" sldId="287"/>
            <ac:spMk id="4" creationId="{F698EE11-FE13-616E-8EC0-443B26CD584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B283F6-C314-7947-A9AF-3EB9C2DB19FD}" type="datetimeFigureOut">
              <a:rPr lang="en-US" smtClean="0"/>
              <a:pPr/>
              <a:t>4/5/25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5E5F24-4628-B24C-A583-A31907D62B76}" type="slidenum">
              <a:rPr lang="en-US" smtClean="0"/>
              <a:pPr/>
              <a:t>‹#›</a:t>
            </a:fld>
            <a:endParaRPr lang="en-US"/>
          </a:p>
        </p:txBody>
      </p:sp>
    </p:spTree>
    <p:extLst>
      <p:ext uri="{BB962C8B-B14F-4D97-AF65-F5344CB8AC3E}">
        <p14:creationId xmlns:p14="http://schemas.microsoft.com/office/powerpoint/2010/main" val="136825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fld id="{64C48F92-4784-A444-8125-9F1863656BDD}" type="slidenum">
              <a:rPr lang="en-AU" altLang="en-US">
                <a:latin typeface="Calibri" charset="0"/>
              </a:rPr>
              <a:pPr/>
              <a:t>2</a:t>
            </a:fld>
            <a:endParaRPr lang="en-AU" altLang="en-US">
              <a:latin typeface="Calibri" charset="0"/>
            </a:endParaRPr>
          </a:p>
        </p:txBody>
      </p:sp>
    </p:spTree>
    <p:extLst>
      <p:ext uri="{BB962C8B-B14F-4D97-AF65-F5344CB8AC3E}">
        <p14:creationId xmlns:p14="http://schemas.microsoft.com/office/powerpoint/2010/main" val="404841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spcBef>
                <a:spcPts val="0"/>
              </a:spcBef>
              <a:buFont typeface="+mj-lt"/>
              <a:buNone/>
            </a:pPr>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4</a:t>
            </a:fld>
            <a:endParaRPr lang="en-US"/>
          </a:p>
        </p:txBody>
      </p:sp>
    </p:spTree>
    <p:extLst>
      <p:ext uri="{BB962C8B-B14F-4D97-AF65-F5344CB8AC3E}">
        <p14:creationId xmlns:p14="http://schemas.microsoft.com/office/powerpoint/2010/main" val="1212131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spcBef>
                <a:spcPts val="0"/>
              </a:spcBef>
              <a:buFont typeface="+mj-lt"/>
              <a:buNone/>
            </a:pPr>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5</a:t>
            </a:fld>
            <a:endParaRPr lang="en-US"/>
          </a:p>
        </p:txBody>
      </p:sp>
    </p:spTree>
    <p:extLst>
      <p:ext uri="{BB962C8B-B14F-4D97-AF65-F5344CB8AC3E}">
        <p14:creationId xmlns:p14="http://schemas.microsoft.com/office/powerpoint/2010/main" val="1606849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spcBef>
                <a:spcPts val="0"/>
              </a:spcBef>
              <a:buFont typeface="+mj-lt"/>
              <a:buNone/>
            </a:pPr>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6</a:t>
            </a:fld>
            <a:endParaRPr lang="en-US"/>
          </a:p>
        </p:txBody>
      </p:sp>
    </p:spTree>
    <p:extLst>
      <p:ext uri="{BB962C8B-B14F-4D97-AF65-F5344CB8AC3E}">
        <p14:creationId xmlns:p14="http://schemas.microsoft.com/office/powerpoint/2010/main" val="1863855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spcBef>
                <a:spcPts val="0"/>
              </a:spcBef>
              <a:buFont typeface="+mj-lt"/>
              <a:buNone/>
            </a:pPr>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7</a:t>
            </a:fld>
            <a:endParaRPr lang="en-US"/>
          </a:p>
        </p:txBody>
      </p:sp>
    </p:spTree>
    <p:extLst>
      <p:ext uri="{BB962C8B-B14F-4D97-AF65-F5344CB8AC3E}">
        <p14:creationId xmlns:p14="http://schemas.microsoft.com/office/powerpoint/2010/main" val="733494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spcBef>
                <a:spcPts val="0"/>
              </a:spcBef>
              <a:buFont typeface="+mj-lt"/>
              <a:buNone/>
            </a:pPr>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8</a:t>
            </a:fld>
            <a:endParaRPr lang="en-US"/>
          </a:p>
        </p:txBody>
      </p:sp>
    </p:spTree>
    <p:extLst>
      <p:ext uri="{BB962C8B-B14F-4D97-AF65-F5344CB8AC3E}">
        <p14:creationId xmlns:p14="http://schemas.microsoft.com/office/powerpoint/2010/main" val="2774676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9</a:t>
            </a:fld>
            <a:endParaRPr lang="en-US"/>
          </a:p>
        </p:txBody>
      </p:sp>
    </p:spTree>
    <p:extLst>
      <p:ext uri="{BB962C8B-B14F-4D97-AF65-F5344CB8AC3E}">
        <p14:creationId xmlns:p14="http://schemas.microsoft.com/office/powerpoint/2010/main" val="788082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10</a:t>
            </a:fld>
            <a:endParaRPr lang="en-US"/>
          </a:p>
        </p:txBody>
      </p:sp>
    </p:spTree>
    <p:extLst>
      <p:ext uri="{BB962C8B-B14F-4D97-AF65-F5344CB8AC3E}">
        <p14:creationId xmlns:p14="http://schemas.microsoft.com/office/powerpoint/2010/main" val="2632409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11</a:t>
            </a:fld>
            <a:endParaRPr lang="en-US"/>
          </a:p>
        </p:txBody>
      </p:sp>
    </p:spTree>
    <p:extLst>
      <p:ext uri="{BB962C8B-B14F-4D97-AF65-F5344CB8AC3E}">
        <p14:creationId xmlns:p14="http://schemas.microsoft.com/office/powerpoint/2010/main" val="502706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15E5F24-4628-B24C-A583-A31907D62B76}" type="slidenum">
              <a:rPr lang="en-US" smtClean="0"/>
              <a:pPr/>
              <a:t>12</a:t>
            </a:fld>
            <a:endParaRPr lang="en-US"/>
          </a:p>
        </p:txBody>
      </p:sp>
    </p:spTree>
    <p:extLst>
      <p:ext uri="{BB962C8B-B14F-4D97-AF65-F5344CB8AC3E}">
        <p14:creationId xmlns:p14="http://schemas.microsoft.com/office/powerpoint/2010/main" val="384764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Arial" charset="0"/>
                <a:cs typeface="Arial" charset="0"/>
              </a:defRPr>
            </a:lvl1pPr>
            <a:lvl2pPr marL="784225" indent="-301625">
              <a:defRPr>
                <a:solidFill>
                  <a:schemeClr val="tx1"/>
                </a:solidFill>
                <a:latin typeface="Arial" charset="0"/>
                <a:ea typeface="Arial" charset="0"/>
                <a:cs typeface="Arial" charset="0"/>
              </a:defRPr>
            </a:lvl2pPr>
            <a:lvl3pPr marL="1208088" indent="-241300">
              <a:defRPr>
                <a:solidFill>
                  <a:schemeClr val="tx1"/>
                </a:solidFill>
                <a:latin typeface="Arial" charset="0"/>
                <a:ea typeface="Arial" charset="0"/>
                <a:cs typeface="Arial" charset="0"/>
              </a:defRPr>
            </a:lvl3pPr>
            <a:lvl4pPr marL="1690688" indent="-241300">
              <a:defRPr>
                <a:solidFill>
                  <a:schemeClr val="tx1"/>
                </a:solidFill>
                <a:latin typeface="Arial" charset="0"/>
                <a:ea typeface="Arial" charset="0"/>
                <a:cs typeface="Arial" charset="0"/>
              </a:defRPr>
            </a:lvl4pPr>
            <a:lvl5pPr marL="2174875" indent="-241300">
              <a:defRPr>
                <a:solidFill>
                  <a:schemeClr val="tx1"/>
                </a:solidFill>
                <a:latin typeface="Arial" charset="0"/>
                <a:ea typeface="Arial" charset="0"/>
                <a:cs typeface="Arial" charset="0"/>
              </a:defRPr>
            </a:lvl5pPr>
            <a:lvl6pPr marL="2632075" indent="-241300" eaLnBrk="0" fontAlgn="base" hangingPunct="0">
              <a:spcBef>
                <a:spcPct val="0"/>
              </a:spcBef>
              <a:spcAft>
                <a:spcPct val="0"/>
              </a:spcAft>
              <a:defRPr>
                <a:solidFill>
                  <a:schemeClr val="tx1"/>
                </a:solidFill>
                <a:latin typeface="Arial" charset="0"/>
                <a:ea typeface="Arial" charset="0"/>
                <a:cs typeface="Arial" charset="0"/>
              </a:defRPr>
            </a:lvl6pPr>
            <a:lvl7pPr marL="3089275" indent="-241300" eaLnBrk="0" fontAlgn="base" hangingPunct="0">
              <a:spcBef>
                <a:spcPct val="0"/>
              </a:spcBef>
              <a:spcAft>
                <a:spcPct val="0"/>
              </a:spcAft>
              <a:defRPr>
                <a:solidFill>
                  <a:schemeClr val="tx1"/>
                </a:solidFill>
                <a:latin typeface="Arial" charset="0"/>
                <a:ea typeface="Arial" charset="0"/>
                <a:cs typeface="Arial" charset="0"/>
              </a:defRPr>
            </a:lvl7pPr>
            <a:lvl8pPr marL="3546475" indent="-241300" eaLnBrk="0" fontAlgn="base" hangingPunct="0">
              <a:spcBef>
                <a:spcPct val="0"/>
              </a:spcBef>
              <a:spcAft>
                <a:spcPct val="0"/>
              </a:spcAft>
              <a:defRPr>
                <a:solidFill>
                  <a:schemeClr val="tx1"/>
                </a:solidFill>
                <a:latin typeface="Arial" charset="0"/>
                <a:ea typeface="Arial" charset="0"/>
                <a:cs typeface="Arial" charset="0"/>
              </a:defRPr>
            </a:lvl8pPr>
            <a:lvl9pPr marL="4003675" indent="-241300" eaLnBrk="0" fontAlgn="base" hangingPunct="0">
              <a:spcBef>
                <a:spcPct val="0"/>
              </a:spcBef>
              <a:spcAft>
                <a:spcPct val="0"/>
              </a:spcAft>
              <a:defRPr>
                <a:solidFill>
                  <a:schemeClr val="tx1"/>
                </a:solidFill>
                <a:latin typeface="Arial" charset="0"/>
                <a:ea typeface="Arial" charset="0"/>
                <a:cs typeface="Arial" charset="0"/>
              </a:defRPr>
            </a:lvl9pPr>
          </a:lstStyle>
          <a:p>
            <a:fld id="{5A63025E-6D81-DB4A-8D38-7BA5696A3913}" type="slidenum">
              <a:rPr lang="en-US" altLang="en-US"/>
              <a:pPr/>
              <a:t>13</a:t>
            </a:fld>
            <a:endParaRPr lang="en-US" altLang="en-US"/>
          </a:p>
        </p:txBody>
      </p:sp>
      <p:sp>
        <p:nvSpPr>
          <p:cNvPr id="819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192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dirty="0">
              <a:latin typeface="Arial" charset="0"/>
            </a:endParaRPr>
          </a:p>
        </p:txBody>
      </p:sp>
    </p:spTree>
    <p:extLst>
      <p:ext uri="{BB962C8B-B14F-4D97-AF65-F5344CB8AC3E}">
        <p14:creationId xmlns:p14="http://schemas.microsoft.com/office/powerpoint/2010/main" val="1663252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Arial" charset="0"/>
                <a:cs typeface="Arial" charset="0"/>
              </a:defRPr>
            </a:lvl1pPr>
            <a:lvl2pPr marL="784225" indent="-301625">
              <a:defRPr>
                <a:solidFill>
                  <a:schemeClr val="tx1"/>
                </a:solidFill>
                <a:latin typeface="Arial" charset="0"/>
                <a:ea typeface="Arial" charset="0"/>
                <a:cs typeface="Arial" charset="0"/>
              </a:defRPr>
            </a:lvl2pPr>
            <a:lvl3pPr marL="1208088" indent="-241300">
              <a:defRPr>
                <a:solidFill>
                  <a:schemeClr val="tx1"/>
                </a:solidFill>
                <a:latin typeface="Arial" charset="0"/>
                <a:ea typeface="Arial" charset="0"/>
                <a:cs typeface="Arial" charset="0"/>
              </a:defRPr>
            </a:lvl3pPr>
            <a:lvl4pPr marL="1690688" indent="-241300">
              <a:defRPr>
                <a:solidFill>
                  <a:schemeClr val="tx1"/>
                </a:solidFill>
                <a:latin typeface="Arial" charset="0"/>
                <a:ea typeface="Arial" charset="0"/>
                <a:cs typeface="Arial" charset="0"/>
              </a:defRPr>
            </a:lvl4pPr>
            <a:lvl5pPr marL="2174875" indent="-241300">
              <a:defRPr>
                <a:solidFill>
                  <a:schemeClr val="tx1"/>
                </a:solidFill>
                <a:latin typeface="Arial" charset="0"/>
                <a:ea typeface="Arial" charset="0"/>
                <a:cs typeface="Arial" charset="0"/>
              </a:defRPr>
            </a:lvl5pPr>
            <a:lvl6pPr marL="2632075" indent="-241300" eaLnBrk="0" fontAlgn="base" hangingPunct="0">
              <a:spcBef>
                <a:spcPct val="0"/>
              </a:spcBef>
              <a:spcAft>
                <a:spcPct val="0"/>
              </a:spcAft>
              <a:defRPr>
                <a:solidFill>
                  <a:schemeClr val="tx1"/>
                </a:solidFill>
                <a:latin typeface="Arial" charset="0"/>
                <a:ea typeface="Arial" charset="0"/>
                <a:cs typeface="Arial" charset="0"/>
              </a:defRPr>
            </a:lvl6pPr>
            <a:lvl7pPr marL="3089275" indent="-241300" eaLnBrk="0" fontAlgn="base" hangingPunct="0">
              <a:spcBef>
                <a:spcPct val="0"/>
              </a:spcBef>
              <a:spcAft>
                <a:spcPct val="0"/>
              </a:spcAft>
              <a:defRPr>
                <a:solidFill>
                  <a:schemeClr val="tx1"/>
                </a:solidFill>
                <a:latin typeface="Arial" charset="0"/>
                <a:ea typeface="Arial" charset="0"/>
                <a:cs typeface="Arial" charset="0"/>
              </a:defRPr>
            </a:lvl7pPr>
            <a:lvl8pPr marL="3546475" indent="-241300" eaLnBrk="0" fontAlgn="base" hangingPunct="0">
              <a:spcBef>
                <a:spcPct val="0"/>
              </a:spcBef>
              <a:spcAft>
                <a:spcPct val="0"/>
              </a:spcAft>
              <a:defRPr>
                <a:solidFill>
                  <a:schemeClr val="tx1"/>
                </a:solidFill>
                <a:latin typeface="Arial" charset="0"/>
                <a:ea typeface="Arial" charset="0"/>
                <a:cs typeface="Arial" charset="0"/>
              </a:defRPr>
            </a:lvl8pPr>
            <a:lvl9pPr marL="4003675" indent="-241300" eaLnBrk="0" fontAlgn="base" hangingPunct="0">
              <a:spcBef>
                <a:spcPct val="0"/>
              </a:spcBef>
              <a:spcAft>
                <a:spcPct val="0"/>
              </a:spcAft>
              <a:defRPr>
                <a:solidFill>
                  <a:schemeClr val="tx1"/>
                </a:solidFill>
                <a:latin typeface="Arial" charset="0"/>
                <a:ea typeface="Arial" charset="0"/>
                <a:cs typeface="Arial" charset="0"/>
              </a:defRPr>
            </a:lvl9pPr>
          </a:lstStyle>
          <a:p>
            <a:fld id="{5A63025E-6D81-DB4A-8D38-7BA5696A3913}" type="slidenum">
              <a:rPr lang="en-US" altLang="en-US"/>
              <a:pPr/>
              <a:t>14</a:t>
            </a:fld>
            <a:endParaRPr lang="en-US" altLang="en-US"/>
          </a:p>
        </p:txBody>
      </p:sp>
      <p:sp>
        <p:nvSpPr>
          <p:cNvPr id="819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192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dirty="0">
              <a:latin typeface="Arial" charset="0"/>
            </a:endParaRPr>
          </a:p>
        </p:txBody>
      </p:sp>
    </p:spTree>
    <p:extLst>
      <p:ext uri="{BB962C8B-B14F-4D97-AF65-F5344CB8AC3E}">
        <p14:creationId xmlns:p14="http://schemas.microsoft.com/office/powerpoint/2010/main" val="106972720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2B9A8D90-C648-A64E-96CB-46211FFE4E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9A8D90-C648-A64E-96CB-46211FFE4E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2B9A8D90-C648-A64E-96CB-46211FFE4E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A8D90-C648-A64E-96CB-46211FFE4E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9A8D90-C648-A64E-96CB-46211FFE4E80}"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2B9A8D90-C648-A64E-96CB-46211FFE4E80}"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9A8D90-C648-A64E-96CB-46211FFE4E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2B9A8D90-C648-A64E-96CB-46211FFE4E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endParaRPr lang="en-US"/>
          </a:p>
        </p:txBody>
      </p:sp>
      <p:sp>
        <p:nvSpPr>
          <p:cNvPr id="10" name="Slide Number Placeholder 9"/>
          <p:cNvSpPr>
            <a:spLocks noGrp="1"/>
          </p:cNvSpPr>
          <p:nvPr>
            <p:ph type="sldNum" sz="quarter" idx="12"/>
          </p:nvPr>
        </p:nvSpPr>
        <p:spPr/>
        <p:txBody>
          <a:bodyPr/>
          <a:lstStyle/>
          <a:p>
            <a:fld id="{2B9A8D90-C648-A64E-96CB-46211FFE4E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9A8D90-C648-A64E-96CB-46211FFE4E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9A8D90-C648-A64E-96CB-46211FFE4E8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C">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30A4702B-2D34-4ADF-9BC5-6B1C45BD0F79}"/>
              </a:ext>
            </a:extLst>
          </p:cNvPr>
          <p:cNvSpPr>
            <a:spLocks noGrp="1"/>
          </p:cNvSpPr>
          <p:nvPr>
            <p:ph type="pic" sz="quarter" idx="12"/>
          </p:nvPr>
        </p:nvSpPr>
        <p:spPr>
          <a:xfrm>
            <a:off x="5205411" y="2"/>
            <a:ext cx="3938587" cy="4816475"/>
          </a:xfrm>
          <a:custGeom>
            <a:avLst/>
            <a:gdLst>
              <a:gd name="connsiteX0" fmla="*/ 0 w 5251450"/>
              <a:gd name="connsiteY0" fmla="*/ 0 h 4816475"/>
              <a:gd name="connsiteX1" fmla="*/ 5251450 w 5251450"/>
              <a:gd name="connsiteY1" fmla="*/ 0 h 4816475"/>
              <a:gd name="connsiteX2" fmla="*/ 5251450 w 5251450"/>
              <a:gd name="connsiteY2" fmla="*/ 3198844 h 4816475"/>
              <a:gd name="connsiteX3" fmla="*/ 2747947 w 5251450"/>
              <a:gd name="connsiteY3" fmla="*/ 4816475 h 4816475"/>
              <a:gd name="connsiteX4" fmla="*/ 0 w 5251450"/>
              <a:gd name="connsiteY4" fmla="*/ 2060992 h 4816475"/>
              <a:gd name="connsiteX5" fmla="*/ 0 w 5251450"/>
              <a:gd name="connsiteY5" fmla="*/ 0 h 481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1450" h="4816475">
                <a:moveTo>
                  <a:pt x="0" y="0"/>
                </a:moveTo>
                <a:cubicBezTo>
                  <a:pt x="0" y="0"/>
                  <a:pt x="0" y="0"/>
                  <a:pt x="5251450" y="0"/>
                </a:cubicBezTo>
                <a:cubicBezTo>
                  <a:pt x="5251450" y="0"/>
                  <a:pt x="5251450" y="0"/>
                  <a:pt x="5251450" y="3198844"/>
                </a:cubicBezTo>
                <a:cubicBezTo>
                  <a:pt x="4819409" y="4153018"/>
                  <a:pt x="3860896" y="4816475"/>
                  <a:pt x="2747947" y="4816475"/>
                </a:cubicBezTo>
                <a:cubicBezTo>
                  <a:pt x="1230434" y="4816475"/>
                  <a:pt x="0" y="3582984"/>
                  <a:pt x="0" y="2060992"/>
                </a:cubicBezTo>
                <a:cubicBezTo>
                  <a:pt x="0" y="2060992"/>
                  <a:pt x="0" y="2060992"/>
                  <a:pt x="0" y="0"/>
                </a:cubicBezTo>
                <a:close/>
              </a:path>
            </a:pathLst>
          </a:custGeom>
          <a:solidFill>
            <a:schemeClr val="accent6">
              <a:lumMod val="90000"/>
            </a:schemeClr>
          </a:solidFill>
        </p:spPr>
        <p:txBody>
          <a:bodyPr wrap="square" lIns="144000" tIns="144000">
            <a:noAutofit/>
          </a:bodyPr>
          <a:lstStyle>
            <a:lvl1pPr>
              <a:defRPr sz="1050">
                <a:solidFill>
                  <a:schemeClr val="bg1"/>
                </a:solidFill>
              </a:defRPr>
            </a:lvl1pPr>
          </a:lstStyle>
          <a:p>
            <a:r>
              <a:rPr lang="en-US"/>
              <a:t>Drag picture to placeholder or click icon to add</a:t>
            </a:r>
            <a:endParaRPr lang="en-GB"/>
          </a:p>
        </p:txBody>
      </p:sp>
      <p:sp>
        <p:nvSpPr>
          <p:cNvPr id="13" name="Rectangle 12">
            <a:extLst>
              <a:ext uri="{FF2B5EF4-FFF2-40B4-BE49-F238E27FC236}">
                <a16:creationId xmlns:a16="http://schemas.microsoft.com/office/drawing/2014/main" id="{301BC1A6-FA88-4814-A368-FA1F0C3E5EF9}"/>
              </a:ext>
            </a:extLst>
          </p:cNvPr>
          <p:cNvSpPr/>
          <p:nvPr userDrawn="1"/>
        </p:nvSpPr>
        <p:spPr>
          <a:xfrm>
            <a:off x="1" y="0"/>
            <a:ext cx="9143999" cy="6858000"/>
          </a:xfrm>
          <a:prstGeom prst="rect">
            <a:avLst/>
          </a:prstGeom>
          <a:solidFill>
            <a:srgbClr val="0377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p:cNvSpPr>
            <a:spLocks noGrp="1"/>
          </p:cNvSpPr>
          <p:nvPr>
            <p:ph type="ctrTitle" hasCustomPrompt="1"/>
          </p:nvPr>
        </p:nvSpPr>
        <p:spPr>
          <a:xfrm>
            <a:off x="302930" y="1122363"/>
            <a:ext cx="3780000" cy="1835208"/>
          </a:xfrm>
        </p:spPr>
        <p:txBody>
          <a:bodyPr anchor="b"/>
          <a:lstStyle>
            <a:lvl1pPr algn="l">
              <a:defRPr sz="3375" b="0"/>
            </a:lvl1pPr>
          </a:lstStyle>
          <a:p>
            <a:r>
              <a:rPr lang="en-US" dirty="0"/>
              <a:t>Click to add title</a:t>
            </a:r>
            <a:endParaRPr lang="en-GB" dirty="0"/>
          </a:p>
        </p:txBody>
      </p:sp>
      <p:sp>
        <p:nvSpPr>
          <p:cNvPr id="3" name="Subtitle 2"/>
          <p:cNvSpPr>
            <a:spLocks noGrp="1"/>
          </p:cNvSpPr>
          <p:nvPr>
            <p:ph type="subTitle" idx="1" hasCustomPrompt="1"/>
          </p:nvPr>
        </p:nvSpPr>
        <p:spPr>
          <a:xfrm>
            <a:off x="302931" y="3051740"/>
            <a:ext cx="3780000" cy="2206060"/>
          </a:xfrm>
        </p:spPr>
        <p:txBody>
          <a:bodyPr/>
          <a:lstStyle>
            <a:lvl1pPr marL="0" indent="0" algn="l">
              <a:buNone/>
              <a:defRPr sz="1875">
                <a:solidFill>
                  <a:schemeClr val="tx1"/>
                </a:solidFill>
              </a:defRPr>
            </a:lvl1pPr>
            <a:lvl2pPr marL="342909" indent="0" algn="ctr">
              <a:buNone/>
              <a:defRPr sz="1500"/>
            </a:lvl2pPr>
            <a:lvl3pPr marL="685817" indent="0" algn="ctr">
              <a:buNone/>
              <a:defRPr sz="1350"/>
            </a:lvl3pPr>
            <a:lvl4pPr marL="1028726" indent="0" algn="ctr">
              <a:buNone/>
              <a:defRPr sz="1200"/>
            </a:lvl4pPr>
            <a:lvl5pPr marL="1371634" indent="0" algn="ctr">
              <a:buNone/>
              <a:defRPr sz="1200"/>
            </a:lvl5pPr>
            <a:lvl6pPr marL="1714543" indent="0" algn="ctr">
              <a:buNone/>
              <a:defRPr sz="1200"/>
            </a:lvl6pPr>
            <a:lvl7pPr marL="2057451" indent="0" algn="ctr">
              <a:buNone/>
              <a:defRPr sz="1200"/>
            </a:lvl7pPr>
            <a:lvl8pPr marL="2400360" indent="0" algn="ctr">
              <a:buNone/>
              <a:defRPr sz="1200"/>
            </a:lvl8pPr>
            <a:lvl9pPr marL="2743269" indent="0" algn="ctr">
              <a:buNone/>
              <a:defRPr sz="1200"/>
            </a:lvl9pPr>
          </a:lstStyle>
          <a:p>
            <a:r>
              <a:rPr lang="en-US" dirty="0"/>
              <a:t>Click to add subtitle</a:t>
            </a:r>
            <a:endParaRPr lang="en-GB" dirty="0"/>
          </a:p>
        </p:txBody>
      </p:sp>
      <p:sp>
        <p:nvSpPr>
          <p:cNvPr id="5" name="Footer Placeholder 4"/>
          <p:cNvSpPr>
            <a:spLocks noGrp="1"/>
          </p:cNvSpPr>
          <p:nvPr>
            <p:ph type="ftr" sz="quarter" idx="11"/>
          </p:nvPr>
        </p:nvSpPr>
        <p:spPr>
          <a:xfrm>
            <a:off x="107504" y="6525344"/>
            <a:ext cx="7632848" cy="221109"/>
          </a:xfrm>
          <a:prstGeom prst="rect">
            <a:avLst/>
          </a:prstGeom>
        </p:spPr>
        <p:txBody>
          <a:bodyPr/>
          <a:lstStyle/>
          <a:p>
            <a:r>
              <a:rPr lang="en-AU"/>
              <a:t>Data Warehousing                    © Ida Someh, University of Melbourne 2018</a:t>
            </a:r>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5156597" y="4870450"/>
            <a:ext cx="3987403"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tx2"/>
          </a:solidFill>
          <a:ln>
            <a:noFill/>
          </a:ln>
        </p:spPr>
        <p:txBody>
          <a:bodyPr vert="horz" wrap="square" lIns="68580" tIns="34290" rIns="68580" bIns="34290" numCol="1" anchor="t" anchorCtr="0" compatLnSpc="1">
            <a:prstTxWarp prst="textNoShape">
              <a:avLst/>
            </a:prstTxWarp>
          </a:bodyPr>
          <a:lstStyle/>
          <a:p>
            <a:endParaRPr lang="en-GB" sz="1350"/>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660232" y="4365104"/>
            <a:ext cx="1324262" cy="1394929"/>
          </a:xfrm>
          <a:prstGeom prst="rect">
            <a:avLst/>
          </a:prstGeom>
        </p:spPr>
      </p:pic>
      <p:pic>
        <p:nvPicPr>
          <p:cNvPr id="1026" name="Picture 4" descr="image002"/>
          <p:cNvPicPr>
            <a:picLocks noChangeAspect="1" noChangeArrowheads="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1" y="6246537"/>
            <a:ext cx="3242622" cy="61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3130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2B9A8D90-C648-A64E-96CB-46211FFE4E80}" type="slidenum">
              <a:rPr lang="en-US" smtClean="0"/>
              <a:pPr/>
              <a:t>‹#›</a:t>
            </a:fld>
            <a:endParaRPr lang="en-US"/>
          </a:p>
        </p:txBody>
      </p:sp>
    </p:spTree>
    <p:extLst>
      <p:ext uri="{BB962C8B-B14F-4D97-AF65-F5344CB8AC3E}">
        <p14:creationId xmlns:p14="http://schemas.microsoft.com/office/powerpoint/2010/main" val="19028115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Lst>
  <p:hf hdr="0" ftr="0" dt="0"/>
  <p:txStyles>
    <p:titleStyle>
      <a:lvl1pPr algn="l" defTabSz="914400" rtl="0" eaLnBrk="1" latinLnBrk="0" hangingPunct="1">
        <a:lnSpc>
          <a:spcPct val="90000"/>
        </a:lnSpc>
        <a:spcBef>
          <a:spcPct val="0"/>
        </a:spcBef>
        <a:buNone/>
        <a:defRPr sz="4200" b="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a:extLst>
              <a:ext uri="{FF2B5EF4-FFF2-40B4-BE49-F238E27FC236}">
                <a16:creationId xmlns:a16="http://schemas.microsoft.com/office/drawing/2014/main" id="{70160DEE-AFDD-4986-B66C-244601FF1C15}"/>
              </a:ext>
            </a:extLst>
          </p:cNvPr>
          <p:cNvPicPr>
            <a:picLocks noGrp="1" noChangeAspect="1"/>
          </p:cNvPicPr>
          <p:nvPr>
            <p:ph type="pic" sz="quarter" idx="12"/>
          </p:nvPr>
        </p:nvPicPr>
        <p:blipFill rotWithShape="1">
          <a:blip r:embed="rId2" cstate="print">
            <a:extLst>
              <a:ext uri="{28A0092B-C50C-407E-A947-70E740481C1C}">
                <a14:useLocalDpi xmlns:a14="http://schemas.microsoft.com/office/drawing/2010/main"/>
              </a:ext>
            </a:extLst>
          </a:blip>
          <a:srcRect l="13" r="13"/>
          <a:stretch/>
        </p:blipFill>
        <p:spPr>
          <a:xfrm>
            <a:off x="5701974" y="191626"/>
            <a:ext cx="3442026" cy="3885446"/>
          </a:xfrm>
        </p:spPr>
      </p:pic>
      <p:sp>
        <p:nvSpPr>
          <p:cNvPr id="5" name="Title 4">
            <a:extLst>
              <a:ext uri="{FF2B5EF4-FFF2-40B4-BE49-F238E27FC236}">
                <a16:creationId xmlns:a16="http://schemas.microsoft.com/office/drawing/2014/main" id="{63367F15-0D65-4A0A-A143-3506CA25BEE0}"/>
              </a:ext>
            </a:extLst>
          </p:cNvPr>
          <p:cNvSpPr>
            <a:spLocks noGrp="1"/>
          </p:cNvSpPr>
          <p:nvPr>
            <p:ph type="ctrTitle"/>
          </p:nvPr>
        </p:nvSpPr>
        <p:spPr>
          <a:xfrm>
            <a:off x="395536" y="1526569"/>
            <a:ext cx="5128606" cy="1440160"/>
          </a:xfrm>
        </p:spPr>
        <p:txBody>
          <a:bodyPr>
            <a:normAutofit/>
          </a:bodyPr>
          <a:lstStyle/>
          <a:p>
            <a:r>
              <a:rPr lang="en-GB" b="1" dirty="0">
                <a:solidFill>
                  <a:schemeClr val="bg1"/>
                </a:solidFill>
              </a:rPr>
              <a:t>Assignment 2 Hints</a:t>
            </a:r>
            <a:endParaRPr lang="en-AU" dirty="0">
              <a:solidFill>
                <a:schemeClr val="bg1"/>
              </a:solidFill>
            </a:endParaRPr>
          </a:p>
        </p:txBody>
      </p:sp>
      <p:sp>
        <p:nvSpPr>
          <p:cNvPr id="6" name="Subtitle 5">
            <a:extLst>
              <a:ext uri="{FF2B5EF4-FFF2-40B4-BE49-F238E27FC236}">
                <a16:creationId xmlns:a16="http://schemas.microsoft.com/office/drawing/2014/main" id="{A18E9F2C-FC44-4617-A529-475A08D9B96D}"/>
              </a:ext>
            </a:extLst>
          </p:cNvPr>
          <p:cNvSpPr>
            <a:spLocks noGrp="1"/>
          </p:cNvSpPr>
          <p:nvPr>
            <p:ph type="subTitle" idx="1"/>
          </p:nvPr>
        </p:nvSpPr>
        <p:spPr>
          <a:xfrm>
            <a:off x="185051" y="475770"/>
            <a:ext cx="4254011" cy="427411"/>
          </a:xfrm>
        </p:spPr>
        <p:txBody>
          <a:bodyPr>
            <a:normAutofit fontScale="85000" lnSpcReduction="10000"/>
          </a:bodyPr>
          <a:lstStyle/>
          <a:p>
            <a:r>
              <a:rPr lang="en-AU" dirty="0"/>
              <a:t>MIS715 Responsible Artificial Intelligence</a:t>
            </a:r>
          </a:p>
        </p:txBody>
      </p:sp>
      <p:pic>
        <p:nvPicPr>
          <p:cNvPr id="7" name="Picture 1" descr="C:\Users\Shrek\Desktop\Ideas to make revising mathematics engaging.jpg"/>
          <p:cNvPicPr>
            <a:picLocks noChangeAspect="1" noChangeArrowheads="1"/>
          </p:cNvPicPr>
          <p:nvPr/>
        </p:nvPicPr>
        <p:blipFill>
          <a:blip r:embed="rId3"/>
          <a:srcRect/>
          <a:stretch>
            <a:fillRect/>
          </a:stretch>
        </p:blipFill>
        <p:spPr bwMode="auto">
          <a:xfrm>
            <a:off x="2077889" y="4082600"/>
            <a:ext cx="1763900" cy="1679905"/>
          </a:xfrm>
          <a:prstGeom prst="rect">
            <a:avLst/>
          </a:prstGeom>
          <a:noFill/>
        </p:spPr>
      </p:pic>
    </p:spTree>
    <p:extLst>
      <p:ext uri="{BB962C8B-B14F-4D97-AF65-F5344CB8AC3E}">
        <p14:creationId xmlns:p14="http://schemas.microsoft.com/office/powerpoint/2010/main" val="1030393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609344"/>
          </a:xfrm>
        </p:spPr>
        <p:txBody>
          <a:bodyPr>
            <a:normAutofit/>
          </a:bodyPr>
          <a:lstStyle/>
          <a:p>
            <a:pPr algn="ctr" eaLnBrk="1" fontAlgn="auto" hangingPunct="1">
              <a:spcAft>
                <a:spcPts val="0"/>
              </a:spcAft>
              <a:defRPr/>
            </a:pPr>
            <a:r>
              <a:rPr lang="en-US" sz="2200" b="1" dirty="0"/>
              <a:t>Content</a:t>
            </a:r>
          </a:p>
        </p:txBody>
      </p:sp>
      <p:sp>
        <p:nvSpPr>
          <p:cNvPr id="23554" name="Content Placeholder 2"/>
          <p:cNvSpPr>
            <a:spLocks noGrp="1"/>
          </p:cNvSpPr>
          <p:nvPr>
            <p:ph idx="1"/>
          </p:nvPr>
        </p:nvSpPr>
        <p:spPr>
          <a:xfrm>
            <a:off x="767255" y="1671113"/>
            <a:ext cx="7919545" cy="4591013"/>
          </a:xfrm>
        </p:spPr>
        <p:txBody>
          <a:bodyPr>
            <a:normAutofit/>
          </a:bodyPr>
          <a:lstStyle/>
          <a:p>
            <a:pPr marL="0" indent="0" eaLnBrk="1" hangingPunct="1">
              <a:lnSpc>
                <a:spcPct val="150000"/>
              </a:lnSpc>
              <a:spcBef>
                <a:spcPct val="0"/>
              </a:spcBef>
              <a:buClr>
                <a:schemeClr val="accent1"/>
              </a:buClr>
              <a:buNone/>
            </a:pPr>
            <a:r>
              <a:rPr lang="en-AU" altLang="en-US" sz="2400" b="1" dirty="0"/>
              <a:t>Individual Assignment (Research Report + Video Presentation)</a:t>
            </a:r>
          </a:p>
          <a:p>
            <a:pPr lvl="1">
              <a:lnSpc>
                <a:spcPct val="150000"/>
              </a:lnSpc>
              <a:spcBef>
                <a:spcPct val="0"/>
              </a:spcBef>
              <a:buClr>
                <a:schemeClr val="accent1"/>
              </a:buClr>
            </a:pPr>
            <a:r>
              <a:rPr lang="en-AU" altLang="en-US" sz="2200" dirty="0"/>
              <a:t>Part A: 2000-word research report (40%)</a:t>
            </a:r>
          </a:p>
          <a:p>
            <a:pPr lvl="1">
              <a:lnSpc>
                <a:spcPct val="150000"/>
              </a:lnSpc>
              <a:spcBef>
                <a:spcPct val="0"/>
              </a:spcBef>
              <a:buClr>
                <a:schemeClr val="accent1"/>
              </a:buClr>
            </a:pPr>
            <a:r>
              <a:rPr lang="en-AU" altLang="en-US" sz="2200" dirty="0"/>
              <a:t>Part B: 7-minute video presentation (20%)</a:t>
            </a:r>
          </a:p>
          <a:p>
            <a:pPr eaLnBrk="1" hangingPunct="1">
              <a:spcBef>
                <a:spcPct val="0"/>
              </a:spcBef>
              <a:buClr>
                <a:schemeClr val="accent1"/>
              </a:buClr>
            </a:pPr>
            <a:endParaRPr lang="en-US" altLang="en-US" sz="2400" dirty="0"/>
          </a:p>
        </p:txBody>
      </p:sp>
      <p:sp>
        <p:nvSpPr>
          <p:cNvPr id="3" name="Slide Number Placeholder 2"/>
          <p:cNvSpPr>
            <a:spLocks noGrp="1"/>
          </p:cNvSpPr>
          <p:nvPr>
            <p:ph type="sldNum" sz="quarter" idx="12"/>
          </p:nvPr>
        </p:nvSpPr>
        <p:spPr/>
        <p:txBody>
          <a:bodyPr/>
          <a:lstStyle/>
          <a:p>
            <a:fld id="{2B9A8D90-C648-A64E-96CB-46211FFE4E80}" type="slidenum">
              <a:rPr lang="en-US" smtClean="0"/>
              <a:pPr/>
              <a:t>2</a:t>
            </a:fld>
            <a:endParaRPr lang="en-US"/>
          </a:p>
        </p:txBody>
      </p:sp>
    </p:spTree>
    <p:extLst>
      <p:ext uri="{BB962C8B-B14F-4D97-AF65-F5344CB8AC3E}">
        <p14:creationId xmlns:p14="http://schemas.microsoft.com/office/powerpoint/2010/main" val="758996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51" name="Rectangle 154650">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999"/>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0" y="70191"/>
            <a:ext cx="3974689" cy="1609344"/>
          </a:xfrm>
          <a:ln>
            <a:noFill/>
          </a:ln>
        </p:spPr>
        <p:txBody>
          <a:bodyPr>
            <a:normAutofit/>
          </a:bodyPr>
          <a:lstStyle/>
          <a:p>
            <a:r>
              <a:rPr lang="en-AU" sz="3500" b="1" dirty="0"/>
              <a:t>Assignment:</a:t>
            </a:r>
            <a:br>
              <a:rPr lang="en-AU" sz="3500" b="1" dirty="0"/>
            </a:br>
            <a:r>
              <a:rPr lang="en-AU" sz="3500" b="1" dirty="0"/>
              <a:t>Plan of attack</a:t>
            </a:r>
          </a:p>
        </p:txBody>
      </p:sp>
      <p:pic>
        <p:nvPicPr>
          <p:cNvPr id="154627" name="Picture 3" descr="C:\Users\Shrek\Desktop\confusion.jpg"/>
          <p:cNvPicPr>
            <a:picLocks noChangeAspect="1" noChangeArrowheads="1"/>
          </p:cNvPicPr>
          <p:nvPr/>
        </p:nvPicPr>
        <p:blipFill rotWithShape="1">
          <a:blip r:embed="rId3"/>
          <a:srcRect l="19067" r="36648" b="-1"/>
          <a:stretch/>
        </p:blipFill>
        <p:spPr bwMode="auto">
          <a:xfrm>
            <a:off x="20" y="10"/>
            <a:ext cx="4549857" cy="6857989"/>
          </a:xfrm>
          <a:prstGeom prst="rect">
            <a:avLst/>
          </a:prstGeom>
        </p:spPr>
      </p:pic>
      <p:sp>
        <p:nvSpPr>
          <p:cNvPr id="3" name="Content Placeholder 2"/>
          <p:cNvSpPr>
            <a:spLocks noGrp="1"/>
          </p:cNvSpPr>
          <p:nvPr>
            <p:ph idx="1"/>
          </p:nvPr>
        </p:nvSpPr>
        <p:spPr>
          <a:xfrm>
            <a:off x="4800600" y="1546118"/>
            <a:ext cx="4093594" cy="4463473"/>
          </a:xfrm>
        </p:spPr>
        <p:txBody>
          <a:bodyPr>
            <a:noAutofit/>
          </a:bodyPr>
          <a:lstStyle/>
          <a:p>
            <a:pPr marL="457200" indent="-457200">
              <a:buFont typeface="+mj-lt"/>
              <a:buAutoNum type="arabicPeriod"/>
            </a:pPr>
            <a:r>
              <a:rPr lang="en-AU" sz="1600" dirty="0"/>
              <a:t>Read assignment brief and rubric guides several times.  </a:t>
            </a:r>
          </a:p>
          <a:p>
            <a:pPr marL="457200" indent="-457200">
              <a:buFont typeface="+mj-lt"/>
              <a:buAutoNum type="arabicPeriod"/>
            </a:pPr>
            <a:r>
              <a:rPr lang="en-AU" sz="1600" dirty="0"/>
              <a:t>Think about the case study context (i.e., </a:t>
            </a:r>
            <a:r>
              <a:rPr lang="en-AU" sz="1600" dirty="0" err="1"/>
              <a:t>SecureBank</a:t>
            </a:r>
            <a:r>
              <a:rPr lang="en-AU" sz="1600" dirty="0"/>
              <a:t>)</a:t>
            </a:r>
          </a:p>
          <a:p>
            <a:pPr marL="457200" indent="-457200">
              <a:buFont typeface="+mj-lt"/>
              <a:buAutoNum type="arabicPeriod"/>
            </a:pPr>
            <a:r>
              <a:rPr lang="en-AU" sz="1600" dirty="0"/>
              <a:t>Gain an understanding of what an AI-powered fraud detection system is and what it can do. </a:t>
            </a:r>
          </a:p>
          <a:p>
            <a:pPr marL="457200" indent="-457200">
              <a:buFont typeface="+mj-lt"/>
              <a:buAutoNum type="arabicPeriod"/>
            </a:pPr>
            <a:r>
              <a:rPr lang="en-AU" sz="1600" dirty="0"/>
              <a:t>Read the articles provided for the research report.</a:t>
            </a:r>
          </a:p>
          <a:p>
            <a:pPr marL="457200" indent="-457200">
              <a:buFont typeface="+mj-lt"/>
              <a:buAutoNum type="arabicPeriod"/>
            </a:pPr>
            <a:r>
              <a:rPr lang="en-AU" sz="1600" dirty="0"/>
              <a:t>Understand who are the audience of the report and of the video presentation (see the assignment guide).</a:t>
            </a:r>
          </a:p>
          <a:p>
            <a:pPr marL="457200" indent="-457200">
              <a:buFont typeface="+mj-lt"/>
              <a:buAutoNum type="arabicPeriod"/>
            </a:pPr>
            <a:r>
              <a:rPr lang="en-AU" sz="1600" dirty="0"/>
              <a:t>You might want to revisit the content of topics for Weeks 3,4, 6, and 7.</a:t>
            </a:r>
          </a:p>
        </p:txBody>
      </p:sp>
      <p:grpSp>
        <p:nvGrpSpPr>
          <p:cNvPr id="154653" name="Group 154652">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54654" name="Oval 154653">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4655" name="Oval 154654">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p:cNvSpPr>
            <a:spLocks noGrp="1"/>
          </p:cNvSpPr>
          <p:nvPr>
            <p:ph type="sldNum" sz="quarter" idx="12"/>
          </p:nvPr>
        </p:nvSpPr>
        <p:spPr>
          <a:xfrm>
            <a:off x="8483346" y="6272784"/>
            <a:ext cx="480060" cy="365125"/>
          </a:xfrm>
        </p:spPr>
        <p:txBody>
          <a:bodyPr>
            <a:normAutofit/>
          </a:bodyPr>
          <a:lstStyle/>
          <a:p>
            <a:pPr>
              <a:spcAft>
                <a:spcPts val="600"/>
              </a:spcAft>
            </a:pPr>
            <a:fld id="{2B9A8D90-C648-A64E-96CB-46211FFE4E80}" type="slidenum">
              <a:rPr lang="en-US" smtClean="0"/>
              <a:pPr>
                <a:spcAft>
                  <a:spcPts val="600"/>
                </a:spcAft>
              </a:pPr>
              <a:t>3</a:t>
            </a:fld>
            <a:endParaRPr lang="en-US"/>
          </a:p>
        </p:txBody>
      </p:sp>
    </p:spTree>
    <p:extLst>
      <p:ext uri="{BB962C8B-B14F-4D97-AF65-F5344CB8AC3E}">
        <p14:creationId xmlns:p14="http://schemas.microsoft.com/office/powerpoint/2010/main" val="1772773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Graph on document with pen">
            <a:extLst>
              <a:ext uri="{FF2B5EF4-FFF2-40B4-BE49-F238E27FC236}">
                <a16:creationId xmlns:a16="http://schemas.microsoft.com/office/drawing/2014/main" id="{905ADBDF-5236-7584-FB07-F7178F3B0CC4}"/>
              </a:ext>
            </a:extLst>
          </p:cNvPr>
          <p:cNvPicPr>
            <a:picLocks noChangeAspect="1"/>
          </p:cNvPicPr>
          <p:nvPr/>
        </p:nvPicPr>
        <p:blipFill rotWithShape="1">
          <a:blip r:embed="rId3"/>
          <a:srcRect l="11000" r="-1" b="-1"/>
          <a:stretch/>
        </p:blipFill>
        <p:spPr>
          <a:xfrm>
            <a:off x="20" y="10"/>
            <a:ext cx="9143980" cy="6857989"/>
          </a:xfrm>
          <a:prstGeom prst="rect">
            <a:avLst/>
          </a:prstGeom>
        </p:spPr>
      </p:pic>
      <p:sp>
        <p:nvSpPr>
          <p:cNvPr id="13" name="Rectangle 12">
            <a:extLst>
              <a:ext uri="{FF2B5EF4-FFF2-40B4-BE49-F238E27FC236}">
                <a16:creationId xmlns:a16="http://schemas.microsoft.com/office/drawing/2014/main" id="{F79FF99C-BAA9-404F-9C96-6DD456B4F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9C44AFD-C72D-4D9C-84C6-73E615CE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blipFill dpi="0" rotWithShape="1">
            <a:blip r:embed="rId4">
              <a:alphaModFix amt="30000"/>
              <a:duotone>
                <a:prstClr val="black"/>
                <a:schemeClr val="accent1">
                  <a:tint val="45000"/>
                  <a:satMod val="400000"/>
                </a:schemeClr>
              </a:duotone>
              <a:extLst>
                <a:ext uri="{BEBA8EAE-BF5A-486C-A8C5-ECC9F3942E4B}">
                  <a14:imgProps xmlns:a14="http://schemas.microsoft.com/office/drawing/2010/main">
                    <a14:imgLayer r:embed="rId5">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2386" y="484632"/>
            <a:ext cx="7543800" cy="1609344"/>
          </a:xfrm>
        </p:spPr>
        <p:txBody>
          <a:bodyPr anchor="ctr">
            <a:normAutofit/>
          </a:bodyPr>
          <a:lstStyle/>
          <a:p>
            <a:r>
              <a:rPr lang="en-AU" b="1">
                <a:solidFill>
                  <a:schemeClr val="tx1"/>
                </a:solidFill>
              </a:rPr>
              <a:t>Part A: Research report</a:t>
            </a:r>
          </a:p>
        </p:txBody>
      </p:sp>
      <p:sp>
        <p:nvSpPr>
          <p:cNvPr id="7" name="Content Placeholder 2">
            <a:extLst>
              <a:ext uri="{FF2B5EF4-FFF2-40B4-BE49-F238E27FC236}">
                <a16:creationId xmlns:a16="http://schemas.microsoft.com/office/drawing/2014/main" id="{0A6B1230-770F-446C-1C88-8B954896556F}"/>
              </a:ext>
            </a:extLst>
          </p:cNvPr>
          <p:cNvSpPr>
            <a:spLocks noGrp="1"/>
          </p:cNvSpPr>
          <p:nvPr>
            <p:ph idx="1"/>
          </p:nvPr>
        </p:nvSpPr>
        <p:spPr>
          <a:xfrm>
            <a:off x="802386" y="2121408"/>
            <a:ext cx="7543800" cy="4050792"/>
          </a:xfrm>
        </p:spPr>
        <p:txBody>
          <a:bodyPr>
            <a:normAutofit/>
          </a:bodyPr>
          <a:lstStyle/>
          <a:p>
            <a:r>
              <a:rPr lang="en-AU" sz="2600" b="1" dirty="0"/>
              <a:t>The aims of the research report are: </a:t>
            </a:r>
          </a:p>
          <a:p>
            <a:pPr lvl="1"/>
            <a:r>
              <a:rPr lang="en-AU" sz="2600" dirty="0"/>
              <a:t>to advise the executive management team of </a:t>
            </a:r>
            <a:r>
              <a:rPr lang="en-AU" sz="2600" dirty="0" err="1"/>
              <a:t>SecureBank</a:t>
            </a:r>
            <a:r>
              <a:rPr lang="en-AU" sz="2600" dirty="0"/>
              <a:t> on the possible ethical and social implications of using AI in their organisation.</a:t>
            </a:r>
          </a:p>
          <a:p>
            <a:pPr lvl="1"/>
            <a:r>
              <a:rPr lang="en-AU" sz="2600" dirty="0"/>
              <a:t>to provide principles of AI Ethics and Responsible AI that help articulate and address the executive team’s interests. </a:t>
            </a:r>
          </a:p>
        </p:txBody>
      </p:sp>
      <p:grpSp>
        <p:nvGrpSpPr>
          <p:cNvPr id="17" name="Group 16">
            <a:extLst>
              <a:ext uri="{FF2B5EF4-FFF2-40B4-BE49-F238E27FC236}">
                <a16:creationId xmlns:a16="http://schemas.microsoft.com/office/drawing/2014/main" id="{1D25B14F-36E0-41E8-956F-CABEF1ADD6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8" name="Oval 17">
              <a:extLst>
                <a:ext uri="{FF2B5EF4-FFF2-40B4-BE49-F238E27FC236}">
                  <a16:creationId xmlns:a16="http://schemas.microsoft.com/office/drawing/2014/main" id="{4AFB9EA5-DE4D-4E6B-A302-F55174E4B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E44092F4-4D9B-4D0A-8832-C29E786F8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p:cNvSpPr>
            <a:spLocks noGrp="1"/>
          </p:cNvSpPr>
          <p:nvPr>
            <p:ph type="sldNum" sz="quarter" idx="12"/>
          </p:nvPr>
        </p:nvSpPr>
        <p:spPr>
          <a:xfrm>
            <a:off x="8483346" y="6272784"/>
            <a:ext cx="480060" cy="365125"/>
          </a:xfrm>
        </p:spPr>
        <p:txBody>
          <a:bodyPr>
            <a:normAutofit/>
          </a:bodyPr>
          <a:lstStyle/>
          <a:p>
            <a:pPr>
              <a:spcAft>
                <a:spcPts val="600"/>
              </a:spcAft>
            </a:pPr>
            <a:fld id="{2B9A8D90-C648-A64E-96CB-46211FFE4E80}" type="slidenum">
              <a:rPr lang="en-US" smtClean="0"/>
              <a:pPr>
                <a:spcAft>
                  <a:spcPts val="600"/>
                </a:spcAft>
              </a:pPr>
              <a:t>4</a:t>
            </a:fld>
            <a:endParaRPr lang="en-US"/>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2386" y="484632"/>
            <a:ext cx="7543800" cy="1609344"/>
          </a:xfrm>
        </p:spPr>
        <p:txBody>
          <a:bodyPr>
            <a:normAutofit/>
          </a:bodyPr>
          <a:lstStyle/>
          <a:p>
            <a:r>
              <a:rPr lang="en-AU" b="1"/>
              <a:t>Part A: Research report (ctn.)</a:t>
            </a:r>
            <a:endParaRPr lang="en-AU" b="1" dirty="0"/>
          </a:p>
        </p:txBody>
      </p:sp>
      <p:sp>
        <p:nvSpPr>
          <p:cNvPr id="7" name="Content Placeholder 2">
            <a:extLst>
              <a:ext uri="{FF2B5EF4-FFF2-40B4-BE49-F238E27FC236}">
                <a16:creationId xmlns:a16="http://schemas.microsoft.com/office/drawing/2014/main" id="{0A6B1230-770F-446C-1C88-8B954896556F}"/>
              </a:ext>
            </a:extLst>
          </p:cNvPr>
          <p:cNvSpPr>
            <a:spLocks noGrp="1"/>
          </p:cNvSpPr>
          <p:nvPr>
            <p:ph idx="1"/>
          </p:nvPr>
        </p:nvSpPr>
        <p:spPr>
          <a:xfrm>
            <a:off x="802385" y="2121408"/>
            <a:ext cx="4861814" cy="4050792"/>
          </a:xfrm>
        </p:spPr>
        <p:txBody>
          <a:bodyPr>
            <a:normAutofit lnSpcReduction="10000"/>
          </a:bodyPr>
          <a:lstStyle/>
          <a:p>
            <a:pPr marL="0" indent="0">
              <a:buNone/>
            </a:pPr>
            <a:r>
              <a:rPr lang="en-AU" sz="1600" b="1" dirty="0"/>
              <a:t>In the Research Report, you are expected to: </a:t>
            </a:r>
          </a:p>
          <a:p>
            <a:r>
              <a:rPr lang="en-AU" sz="1600" dirty="0">
                <a:solidFill>
                  <a:srgbClr val="0070C0"/>
                </a:solidFill>
              </a:rPr>
              <a:t>Utilize the provided articles to identify responsible AI principles </a:t>
            </a:r>
            <a:r>
              <a:rPr lang="en-AU" sz="1600" dirty="0"/>
              <a:t>that </a:t>
            </a:r>
            <a:r>
              <a:rPr lang="en-AU" sz="1600" dirty="0" err="1"/>
              <a:t>SecureBank</a:t>
            </a:r>
            <a:r>
              <a:rPr lang="en-AU" sz="1600" dirty="0"/>
              <a:t> should adhere to when deploying the AI-powered chatbots and virtual assistants project in a responsible manner. </a:t>
            </a:r>
          </a:p>
          <a:p>
            <a:r>
              <a:rPr lang="en-AU" sz="1600" dirty="0"/>
              <a:t>It is important that you include all ethical principles, </a:t>
            </a:r>
            <a:r>
              <a:rPr lang="en-AU" sz="1600" dirty="0">
                <a:solidFill>
                  <a:srgbClr val="0070C0"/>
                </a:solidFill>
              </a:rPr>
              <a:t>which you can justify, are relevant to the context of </a:t>
            </a:r>
            <a:r>
              <a:rPr lang="en-AU" sz="1600" dirty="0" err="1">
                <a:solidFill>
                  <a:srgbClr val="0070C0"/>
                </a:solidFill>
              </a:rPr>
              <a:t>SecureBank</a:t>
            </a:r>
            <a:r>
              <a:rPr lang="en-AU" sz="1600" dirty="0">
                <a:solidFill>
                  <a:srgbClr val="0070C0"/>
                </a:solidFill>
              </a:rPr>
              <a:t>. </a:t>
            </a:r>
          </a:p>
          <a:p>
            <a:r>
              <a:rPr lang="en-AU" sz="1600" dirty="0">
                <a:solidFill>
                  <a:srgbClr val="0070C0"/>
                </a:solidFill>
              </a:rPr>
              <a:t>Justify, with examples, why each ethical principle is critically important to </a:t>
            </a:r>
            <a:r>
              <a:rPr lang="en-AU" sz="1600" dirty="0" err="1">
                <a:solidFill>
                  <a:srgbClr val="0070C0"/>
                </a:solidFill>
              </a:rPr>
              <a:t>SecureBank</a:t>
            </a:r>
            <a:r>
              <a:rPr lang="en-AU" sz="1600" dirty="0">
                <a:solidFill>
                  <a:srgbClr val="0070C0"/>
                </a:solidFill>
              </a:rPr>
              <a:t> </a:t>
            </a:r>
            <a:r>
              <a:rPr lang="en-AU" sz="1600" dirty="0"/>
              <a:t>and the AI deployment project, </a:t>
            </a:r>
            <a:r>
              <a:rPr lang="en-AU" sz="1600" dirty="0">
                <a:solidFill>
                  <a:srgbClr val="0070C0"/>
                </a:solidFill>
              </a:rPr>
              <a:t>including what can go wrong if each principle is not followed, for other stakeholders of </a:t>
            </a:r>
            <a:r>
              <a:rPr lang="en-AU" sz="1600" dirty="0" err="1">
                <a:solidFill>
                  <a:srgbClr val="0070C0"/>
                </a:solidFill>
              </a:rPr>
              <a:t>SecureBank</a:t>
            </a:r>
            <a:r>
              <a:rPr lang="en-AU" sz="1600" dirty="0">
                <a:solidFill>
                  <a:srgbClr val="0070C0"/>
                </a:solidFill>
              </a:rPr>
              <a:t> </a:t>
            </a:r>
            <a:r>
              <a:rPr lang="en-AU" sz="1600" dirty="0"/>
              <a:t>(e.g. </a:t>
            </a:r>
            <a:r>
              <a:rPr lang="en-AU" sz="1800" dirty="0">
                <a:effectLst/>
                <a:latin typeface="Calibri" panose="020F0502020204030204" pitchFamily="34" charset="0"/>
                <a:ea typeface="Calibri" panose="020F0502020204030204" pitchFamily="34" charset="0"/>
              </a:rPr>
              <a:t>customers, bank employees, regulators, cybersecurity experts, and consumer advocacy organisations</a:t>
            </a:r>
            <a:r>
              <a:rPr lang="en-AU" sz="1600" dirty="0"/>
              <a:t>).</a:t>
            </a:r>
          </a:p>
        </p:txBody>
      </p:sp>
      <p:pic>
        <p:nvPicPr>
          <p:cNvPr id="19" name="Picture 18" descr="A robot using a laptop sitting on a blue chair">
            <a:extLst>
              <a:ext uri="{FF2B5EF4-FFF2-40B4-BE49-F238E27FC236}">
                <a16:creationId xmlns:a16="http://schemas.microsoft.com/office/drawing/2014/main" id="{CFA73F4F-7679-8D85-8011-EE73181154B0}"/>
              </a:ext>
            </a:extLst>
          </p:cNvPr>
          <p:cNvPicPr>
            <a:picLocks noChangeAspect="1"/>
          </p:cNvPicPr>
          <p:nvPr/>
        </p:nvPicPr>
        <p:blipFill rotWithShape="1">
          <a:blip r:embed="rId3"/>
          <a:srcRect l="58298" r="3894" b="-1"/>
          <a:stretch/>
        </p:blipFill>
        <p:spPr>
          <a:xfrm>
            <a:off x="5904230" y="2193036"/>
            <a:ext cx="2446480" cy="3639872"/>
          </a:xfrm>
          <a:prstGeom prst="rect">
            <a:avLst/>
          </a:prstGeom>
        </p:spPr>
      </p:pic>
      <p:sp>
        <p:nvSpPr>
          <p:cNvPr id="4" name="Slide Number Placeholder 3"/>
          <p:cNvSpPr>
            <a:spLocks noGrp="1"/>
          </p:cNvSpPr>
          <p:nvPr>
            <p:ph type="sldNum" sz="quarter" idx="12"/>
          </p:nvPr>
        </p:nvSpPr>
        <p:spPr>
          <a:xfrm>
            <a:off x="8483346" y="6272784"/>
            <a:ext cx="480060" cy="365125"/>
          </a:xfrm>
        </p:spPr>
        <p:txBody>
          <a:bodyPr>
            <a:normAutofit/>
          </a:bodyPr>
          <a:lstStyle/>
          <a:p>
            <a:pPr>
              <a:spcAft>
                <a:spcPts val="600"/>
              </a:spcAft>
            </a:pPr>
            <a:fld id="{2B9A8D90-C648-A64E-96CB-46211FFE4E80}" type="slidenum">
              <a:rPr lang="en-US" smtClean="0"/>
              <a:pPr>
                <a:spcAft>
                  <a:spcPts val="600"/>
                </a:spcAft>
              </a:pPr>
              <a:t>5</a:t>
            </a:fld>
            <a:endParaRPr lang="en-US"/>
          </a:p>
        </p:txBody>
      </p:sp>
    </p:spTree>
    <p:extLst>
      <p:ext uri="{BB962C8B-B14F-4D97-AF65-F5344CB8AC3E}">
        <p14:creationId xmlns:p14="http://schemas.microsoft.com/office/powerpoint/2010/main" val="1752605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999"/>
          </a:xfrm>
          <a:prstGeom prst="rect">
            <a:avLst/>
          </a:prstGeom>
          <a:blipFill dpi="0" rotWithShape="1">
            <a:blip r:embed="rId3">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0" y="171119"/>
            <a:ext cx="3974689" cy="1609344"/>
          </a:xfrm>
          <a:ln>
            <a:noFill/>
          </a:ln>
        </p:spPr>
        <p:txBody>
          <a:bodyPr>
            <a:normAutofit/>
          </a:bodyPr>
          <a:lstStyle/>
          <a:p>
            <a:r>
              <a:rPr lang="en-AU" sz="3500" b="1" dirty="0"/>
              <a:t>Part A: Research report (ctn.)</a:t>
            </a:r>
          </a:p>
        </p:txBody>
      </p:sp>
      <p:pic>
        <p:nvPicPr>
          <p:cNvPr id="20" name="Picture 19" descr="A robot using a laptop sitting on a blue chair">
            <a:extLst>
              <a:ext uri="{FF2B5EF4-FFF2-40B4-BE49-F238E27FC236}">
                <a16:creationId xmlns:a16="http://schemas.microsoft.com/office/drawing/2014/main" id="{B6600745-34BD-1EDE-5861-0DE63450B1E3}"/>
              </a:ext>
            </a:extLst>
          </p:cNvPr>
          <p:cNvPicPr>
            <a:picLocks noChangeAspect="1"/>
          </p:cNvPicPr>
          <p:nvPr/>
        </p:nvPicPr>
        <p:blipFill rotWithShape="1">
          <a:blip r:embed="rId4"/>
          <a:srcRect l="58651" r="4030"/>
          <a:stretch/>
        </p:blipFill>
        <p:spPr>
          <a:xfrm>
            <a:off x="20" y="10"/>
            <a:ext cx="4549857" cy="6857989"/>
          </a:xfrm>
          <a:prstGeom prst="rect">
            <a:avLst/>
          </a:prstGeom>
        </p:spPr>
      </p:pic>
      <p:sp>
        <p:nvSpPr>
          <p:cNvPr id="7" name="Content Placeholder 2">
            <a:extLst>
              <a:ext uri="{FF2B5EF4-FFF2-40B4-BE49-F238E27FC236}">
                <a16:creationId xmlns:a16="http://schemas.microsoft.com/office/drawing/2014/main" id="{0A6B1230-770F-446C-1C88-8B954896556F}"/>
              </a:ext>
            </a:extLst>
          </p:cNvPr>
          <p:cNvSpPr>
            <a:spLocks noGrp="1"/>
          </p:cNvSpPr>
          <p:nvPr>
            <p:ph idx="1"/>
          </p:nvPr>
        </p:nvSpPr>
        <p:spPr>
          <a:xfrm>
            <a:off x="4748054" y="1828137"/>
            <a:ext cx="3974689" cy="4386947"/>
          </a:xfrm>
        </p:spPr>
        <p:txBody>
          <a:bodyPr>
            <a:noAutofit/>
          </a:bodyPr>
          <a:lstStyle/>
          <a:p>
            <a:r>
              <a:rPr lang="en-AU" b="1" dirty="0"/>
              <a:t>Plan to tackle Part A : </a:t>
            </a:r>
          </a:p>
          <a:p>
            <a:pPr lvl="1"/>
            <a:r>
              <a:rPr lang="en-AU" sz="2000" dirty="0"/>
              <a:t>Read the </a:t>
            </a:r>
            <a:r>
              <a:rPr lang="en-AU" sz="2000" dirty="0">
                <a:solidFill>
                  <a:srgbClr val="0070C0"/>
                </a:solidFill>
              </a:rPr>
              <a:t>articles provided </a:t>
            </a:r>
            <a:r>
              <a:rPr lang="en-AU" sz="2000" dirty="0"/>
              <a:t>in the assignment brief.</a:t>
            </a:r>
          </a:p>
          <a:p>
            <a:pPr lvl="1"/>
            <a:r>
              <a:rPr lang="en-AU" sz="2000" dirty="0">
                <a:solidFill>
                  <a:srgbClr val="0070C0"/>
                </a:solidFill>
              </a:rPr>
              <a:t>Critically analyse and synthesise ethical and Responsible AI guidelines and governance frameworks reported in those articles </a:t>
            </a:r>
            <a:r>
              <a:rPr lang="en-AU" sz="2000" dirty="0"/>
              <a:t>to identify and develop a specific ethical and Responsible AI framework for </a:t>
            </a:r>
            <a:r>
              <a:rPr lang="en-AU" sz="2000" dirty="0" err="1"/>
              <a:t>SecureBank</a:t>
            </a:r>
            <a:r>
              <a:rPr lang="en-AU" sz="2000" dirty="0"/>
              <a:t> to use when deploying AI for fraud detection. </a:t>
            </a:r>
          </a:p>
          <a:p>
            <a:pPr marL="274320" lvl="1" indent="0">
              <a:buNone/>
            </a:pPr>
            <a:endParaRPr lang="en-AU" sz="2000" dirty="0"/>
          </a:p>
        </p:txBody>
      </p:sp>
      <p:grpSp>
        <p:nvGrpSpPr>
          <p:cNvPr id="21" name="Group 20">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22" name="Oval 21">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p:cNvSpPr>
            <a:spLocks noGrp="1"/>
          </p:cNvSpPr>
          <p:nvPr>
            <p:ph type="sldNum" sz="quarter" idx="12"/>
          </p:nvPr>
        </p:nvSpPr>
        <p:spPr>
          <a:xfrm>
            <a:off x="8483346" y="6272784"/>
            <a:ext cx="480060" cy="365125"/>
          </a:xfrm>
        </p:spPr>
        <p:txBody>
          <a:bodyPr>
            <a:normAutofit/>
          </a:bodyPr>
          <a:lstStyle/>
          <a:p>
            <a:pPr>
              <a:spcAft>
                <a:spcPts val="600"/>
              </a:spcAft>
            </a:pPr>
            <a:fld id="{2B9A8D90-C648-A64E-96CB-46211FFE4E80}" type="slidenum">
              <a:rPr lang="en-US" smtClean="0"/>
              <a:pPr>
                <a:spcAft>
                  <a:spcPts val="600"/>
                </a:spcAft>
              </a:pPr>
              <a:t>6</a:t>
            </a:fld>
            <a:endParaRPr lang="en-US"/>
          </a:p>
        </p:txBody>
      </p:sp>
    </p:spTree>
    <p:extLst>
      <p:ext uri="{BB962C8B-B14F-4D97-AF65-F5344CB8AC3E}">
        <p14:creationId xmlns:p14="http://schemas.microsoft.com/office/powerpoint/2010/main" val="334153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052815"/>
          </a:xfrm>
        </p:spPr>
        <p:txBody>
          <a:bodyPr>
            <a:normAutofit/>
          </a:bodyPr>
          <a:lstStyle/>
          <a:p>
            <a:pPr algn="ctr"/>
            <a:r>
              <a:rPr lang="en-AU" sz="2200" b="1" dirty="0"/>
              <a:t>Part A: Research report (ctn.)</a:t>
            </a:r>
          </a:p>
        </p:txBody>
      </p:sp>
      <p:sp>
        <p:nvSpPr>
          <p:cNvPr id="4" name="Slide Number Placeholder 3"/>
          <p:cNvSpPr>
            <a:spLocks noGrp="1"/>
          </p:cNvSpPr>
          <p:nvPr>
            <p:ph type="sldNum" sz="quarter" idx="12"/>
          </p:nvPr>
        </p:nvSpPr>
        <p:spPr/>
        <p:txBody>
          <a:bodyPr/>
          <a:lstStyle/>
          <a:p>
            <a:fld id="{2B9A8D90-C648-A64E-96CB-46211FFE4E80}" type="slidenum">
              <a:rPr lang="en-US" smtClean="0"/>
              <a:pPr/>
              <a:t>7</a:t>
            </a:fld>
            <a:endParaRPr lang="en-US"/>
          </a:p>
        </p:txBody>
      </p:sp>
      <p:sp>
        <p:nvSpPr>
          <p:cNvPr id="7" name="Content Placeholder 2">
            <a:extLst>
              <a:ext uri="{FF2B5EF4-FFF2-40B4-BE49-F238E27FC236}">
                <a16:creationId xmlns:a16="http://schemas.microsoft.com/office/drawing/2014/main" id="{0A6B1230-770F-446C-1C88-8B954896556F}"/>
              </a:ext>
            </a:extLst>
          </p:cNvPr>
          <p:cNvSpPr>
            <a:spLocks noGrp="1"/>
          </p:cNvSpPr>
          <p:nvPr>
            <p:ph idx="1"/>
          </p:nvPr>
        </p:nvSpPr>
        <p:spPr>
          <a:xfrm>
            <a:off x="326571" y="976445"/>
            <a:ext cx="8636835" cy="5100463"/>
          </a:xfrm>
        </p:spPr>
        <p:txBody>
          <a:bodyPr>
            <a:noAutofit/>
          </a:bodyPr>
          <a:lstStyle/>
          <a:p>
            <a:pPr marL="0" indent="0">
              <a:buNone/>
            </a:pPr>
            <a:r>
              <a:rPr lang="en-AU" sz="2400" b="1" dirty="0"/>
              <a:t>Suggestions on how to address the research report’s expectations: </a:t>
            </a:r>
          </a:p>
          <a:p>
            <a:r>
              <a:rPr lang="en-AU" sz="2400" dirty="0">
                <a:solidFill>
                  <a:srgbClr val="0070C0"/>
                </a:solidFill>
              </a:rPr>
              <a:t>Synthesize the principles, guidelines (from each article).</a:t>
            </a:r>
            <a:r>
              <a:rPr lang="en-AU" sz="2400" u="sng" dirty="0">
                <a:solidFill>
                  <a:srgbClr val="0070C0"/>
                </a:solidFill>
              </a:rPr>
              <a:t> </a:t>
            </a:r>
          </a:p>
          <a:p>
            <a:r>
              <a:rPr lang="en-AU" sz="2400" dirty="0">
                <a:solidFill>
                  <a:srgbClr val="0070C0"/>
                </a:solidFill>
              </a:rPr>
              <a:t>List the responsible AI principles for SecureBank’s project that identify as critically important.</a:t>
            </a:r>
            <a:endParaRPr lang="en-AU" sz="2400" u="sng" dirty="0">
              <a:solidFill>
                <a:srgbClr val="0070C0"/>
              </a:solidFill>
            </a:endParaRPr>
          </a:p>
          <a:p>
            <a:r>
              <a:rPr lang="en-AU" sz="2400" dirty="0">
                <a:solidFill>
                  <a:srgbClr val="0070C0"/>
                </a:solidFill>
              </a:rPr>
              <a:t>J</a:t>
            </a:r>
            <a:r>
              <a:rPr lang="en-AU" sz="2400" u="sng" dirty="0">
                <a:solidFill>
                  <a:srgbClr val="0070C0"/>
                </a:solidFill>
              </a:rPr>
              <a:t>ustify why these principles are relevant and important </a:t>
            </a:r>
            <a:r>
              <a:rPr lang="en-AU" sz="2400" dirty="0">
                <a:solidFill>
                  <a:srgbClr val="0070C0"/>
                </a:solidFill>
              </a:rPr>
              <a:t>to SecureBank’s case. </a:t>
            </a:r>
          </a:p>
          <a:p>
            <a:r>
              <a:rPr lang="en-AU" sz="2400" dirty="0">
                <a:solidFill>
                  <a:srgbClr val="0070C0"/>
                </a:solidFill>
              </a:rPr>
              <a:t>Then explain what can go wrong if each principle is not followed. </a:t>
            </a:r>
            <a:r>
              <a:rPr lang="en-AU" sz="2400" u="sng" dirty="0">
                <a:solidFill>
                  <a:srgbClr val="0070C0"/>
                </a:solidFill>
              </a:rPr>
              <a:t>Use examples </a:t>
            </a:r>
            <a:r>
              <a:rPr lang="en-AU" sz="2400" dirty="0">
                <a:solidFill>
                  <a:srgbClr val="0070C0"/>
                </a:solidFill>
              </a:rPr>
              <a:t>to support your arguments. </a:t>
            </a:r>
          </a:p>
          <a:p>
            <a:pPr marL="0" indent="0">
              <a:buNone/>
            </a:pPr>
            <a:endParaRPr lang="en-AU" sz="2400" dirty="0"/>
          </a:p>
        </p:txBody>
      </p:sp>
    </p:spTree>
    <p:extLst>
      <p:ext uri="{BB962C8B-B14F-4D97-AF65-F5344CB8AC3E}">
        <p14:creationId xmlns:p14="http://schemas.microsoft.com/office/powerpoint/2010/main" val="176963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052815"/>
          </a:xfrm>
        </p:spPr>
        <p:txBody>
          <a:bodyPr>
            <a:normAutofit/>
          </a:bodyPr>
          <a:lstStyle/>
          <a:p>
            <a:pPr algn="ctr"/>
            <a:r>
              <a:rPr lang="en-AU" sz="2200" b="1" dirty="0"/>
              <a:t>Part A: Research report (ctn.)</a:t>
            </a:r>
          </a:p>
        </p:txBody>
      </p:sp>
      <p:sp>
        <p:nvSpPr>
          <p:cNvPr id="4" name="Slide Number Placeholder 3"/>
          <p:cNvSpPr>
            <a:spLocks noGrp="1"/>
          </p:cNvSpPr>
          <p:nvPr>
            <p:ph type="sldNum" sz="quarter" idx="12"/>
          </p:nvPr>
        </p:nvSpPr>
        <p:spPr/>
        <p:txBody>
          <a:bodyPr/>
          <a:lstStyle/>
          <a:p>
            <a:fld id="{2B9A8D90-C648-A64E-96CB-46211FFE4E80}" type="slidenum">
              <a:rPr lang="en-US" smtClean="0"/>
              <a:pPr/>
              <a:t>8</a:t>
            </a:fld>
            <a:endParaRPr lang="en-US"/>
          </a:p>
        </p:txBody>
      </p:sp>
      <p:sp>
        <p:nvSpPr>
          <p:cNvPr id="7" name="Content Placeholder 2">
            <a:extLst>
              <a:ext uri="{FF2B5EF4-FFF2-40B4-BE49-F238E27FC236}">
                <a16:creationId xmlns:a16="http://schemas.microsoft.com/office/drawing/2014/main" id="{0A6B1230-770F-446C-1C88-8B954896556F}"/>
              </a:ext>
            </a:extLst>
          </p:cNvPr>
          <p:cNvSpPr>
            <a:spLocks noGrp="1"/>
          </p:cNvSpPr>
          <p:nvPr>
            <p:ph idx="1"/>
          </p:nvPr>
        </p:nvSpPr>
        <p:spPr>
          <a:xfrm>
            <a:off x="326571" y="976445"/>
            <a:ext cx="8636835" cy="5100463"/>
          </a:xfrm>
        </p:spPr>
        <p:txBody>
          <a:bodyPr>
            <a:noAutofit/>
          </a:bodyPr>
          <a:lstStyle/>
          <a:p>
            <a:r>
              <a:rPr lang="en-AU" sz="2100" b="1" dirty="0"/>
              <a:t>What to include in the Research Report: </a:t>
            </a:r>
          </a:p>
          <a:p>
            <a:pPr lvl="1"/>
            <a:r>
              <a:rPr lang="en-AU" sz="2100" dirty="0"/>
              <a:t>A cover page with assignment title (‘Assessment 2 – Research Report’), unit code and name, your full name and student ID, and the word count. This cover page is excluded in the word count. </a:t>
            </a:r>
          </a:p>
          <a:p>
            <a:pPr lvl="1"/>
            <a:r>
              <a:rPr lang="en-AU" sz="2100" dirty="0"/>
              <a:t>A maximum of 2000 words for the report on the topic above for SecureBank's CEO and executive management board. You are encouraged to use examples, tables, graphics, diagrams, illustrations (if applicable), to support arguments in the report. </a:t>
            </a:r>
          </a:p>
          <a:p>
            <a:pPr lvl="1"/>
            <a:r>
              <a:rPr lang="en-AU" sz="2100" dirty="0"/>
              <a:t>A very short introduction (approximately 100 words), </a:t>
            </a:r>
          </a:p>
          <a:p>
            <a:pPr lvl="1"/>
            <a:r>
              <a:rPr lang="en-AU" sz="2100" dirty="0"/>
              <a:t>Multiple sections/subsections (</a:t>
            </a:r>
            <a:r>
              <a:rPr lang="en-AU" sz="2100" dirty="0">
                <a:solidFill>
                  <a:srgbClr val="0070C0"/>
                </a:solidFill>
              </a:rPr>
              <a:t>based on your analysis, synthesis, and findings</a:t>
            </a:r>
            <a:r>
              <a:rPr lang="en-AU" sz="2100" dirty="0"/>
              <a:t>), </a:t>
            </a:r>
          </a:p>
          <a:p>
            <a:pPr lvl="1"/>
            <a:r>
              <a:rPr lang="en-AU" sz="2100" dirty="0"/>
              <a:t>A very short conclusion (approximately 100 words). </a:t>
            </a:r>
          </a:p>
          <a:p>
            <a:pPr marL="274320" lvl="1" indent="0">
              <a:buNone/>
            </a:pPr>
            <a:r>
              <a:rPr lang="en-AU" sz="2100" dirty="0"/>
              <a:t>Note: </a:t>
            </a:r>
            <a:r>
              <a:rPr lang="en-AU" sz="2100" i="1" dirty="0"/>
              <a:t>in-text citations for the research sources listed above are included in the word count. However, a reference list is NOT included in the word count. Cited sources and a reference list should use APA7 Referencing Style. </a:t>
            </a:r>
          </a:p>
        </p:txBody>
      </p:sp>
    </p:spTree>
    <p:extLst>
      <p:ext uri="{BB962C8B-B14F-4D97-AF65-F5344CB8AC3E}">
        <p14:creationId xmlns:p14="http://schemas.microsoft.com/office/powerpoint/2010/main" val="708426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43" y="350954"/>
            <a:ext cx="8599782" cy="954701"/>
          </a:xfrm>
        </p:spPr>
        <p:txBody>
          <a:bodyPr>
            <a:normAutofit/>
          </a:bodyPr>
          <a:lstStyle/>
          <a:p>
            <a:pPr algn="ctr"/>
            <a:r>
              <a:rPr lang="en-AU" sz="2200" b="1" dirty="0"/>
              <a:t>Part b: video presentation</a:t>
            </a:r>
          </a:p>
        </p:txBody>
      </p:sp>
      <p:sp>
        <p:nvSpPr>
          <p:cNvPr id="3" name="Content Placeholder 2"/>
          <p:cNvSpPr>
            <a:spLocks noGrp="1"/>
          </p:cNvSpPr>
          <p:nvPr>
            <p:ph idx="1"/>
          </p:nvPr>
        </p:nvSpPr>
        <p:spPr>
          <a:xfrm>
            <a:off x="803873" y="1305655"/>
            <a:ext cx="7536253" cy="4764024"/>
          </a:xfrm>
        </p:spPr>
        <p:txBody>
          <a:bodyPr>
            <a:noAutofit/>
          </a:bodyPr>
          <a:lstStyle/>
          <a:p>
            <a:r>
              <a:rPr lang="en-AU" sz="2400" dirty="0"/>
              <a:t>Create an </a:t>
            </a:r>
            <a:r>
              <a:rPr lang="en-AU" sz="2400" dirty="0">
                <a:solidFill>
                  <a:srgbClr val="0070C0"/>
                </a:solidFill>
              </a:rPr>
              <a:t>individual Video Recording</a:t>
            </a:r>
            <a:r>
              <a:rPr lang="en-AU" sz="2400" dirty="0"/>
              <a:t>, </a:t>
            </a:r>
            <a:r>
              <a:rPr lang="en-AU" sz="2400" dirty="0">
                <a:solidFill>
                  <a:srgbClr val="0070C0"/>
                </a:solidFill>
              </a:rPr>
              <a:t>no more than 7 minutes</a:t>
            </a:r>
            <a:r>
              <a:rPr lang="en-AU" sz="2400" dirty="0"/>
              <a:t>, to post on SecureBank’s website and to convince the AI system users and the public </a:t>
            </a:r>
            <a:r>
              <a:rPr lang="en-AU" sz="2400" dirty="0">
                <a:solidFill>
                  <a:srgbClr val="0070C0"/>
                </a:solidFill>
              </a:rPr>
              <a:t>on the safe use of AI in </a:t>
            </a:r>
            <a:r>
              <a:rPr lang="en-AU" sz="2400" dirty="0" err="1">
                <a:solidFill>
                  <a:srgbClr val="0070C0"/>
                </a:solidFill>
              </a:rPr>
              <a:t>SecureBank</a:t>
            </a:r>
            <a:r>
              <a:rPr lang="en-AU" sz="2400" dirty="0"/>
              <a:t>.  </a:t>
            </a:r>
          </a:p>
          <a:p>
            <a:r>
              <a:rPr lang="en-AU" sz="2400" dirty="0"/>
              <a:t>The video will be a </a:t>
            </a:r>
            <a:r>
              <a:rPr lang="en-AU" sz="2400" dirty="0">
                <a:solidFill>
                  <a:srgbClr val="0070C0"/>
                </a:solidFill>
              </a:rPr>
              <a:t>slideshow of content and voice-over explaining each slide. </a:t>
            </a:r>
          </a:p>
          <a:p>
            <a:r>
              <a:rPr lang="en-AU" sz="2400" dirty="0"/>
              <a:t>You can use PowerPoint slides to support your video presentation. You must record a voice-over. </a:t>
            </a:r>
          </a:p>
          <a:p>
            <a:r>
              <a:rPr lang="en-AU" sz="2400" i="1" dirty="0"/>
              <a:t>Note: You are not required to include your body or face in the video, but you are free to do so if you feel it will improve your communication.</a:t>
            </a:r>
          </a:p>
        </p:txBody>
      </p:sp>
      <p:sp>
        <p:nvSpPr>
          <p:cNvPr id="4" name="Slide Number Placeholder 3"/>
          <p:cNvSpPr>
            <a:spLocks noGrp="1"/>
          </p:cNvSpPr>
          <p:nvPr>
            <p:ph type="sldNum" sz="quarter" idx="12"/>
          </p:nvPr>
        </p:nvSpPr>
        <p:spPr/>
        <p:txBody>
          <a:bodyPr/>
          <a:lstStyle/>
          <a:p>
            <a:fld id="{2B9A8D90-C648-A64E-96CB-46211FFE4E80}"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43" y="350954"/>
            <a:ext cx="8599782" cy="954701"/>
          </a:xfrm>
        </p:spPr>
        <p:txBody>
          <a:bodyPr>
            <a:normAutofit/>
          </a:bodyPr>
          <a:lstStyle/>
          <a:p>
            <a:pPr algn="ctr"/>
            <a:r>
              <a:rPr lang="en-AU" sz="2200" b="1" dirty="0"/>
              <a:t>Part b: video presentation (ctn.)</a:t>
            </a:r>
          </a:p>
        </p:txBody>
      </p:sp>
      <p:sp>
        <p:nvSpPr>
          <p:cNvPr id="3" name="Content Placeholder 2"/>
          <p:cNvSpPr>
            <a:spLocks noGrp="1"/>
          </p:cNvSpPr>
          <p:nvPr>
            <p:ph idx="1"/>
          </p:nvPr>
        </p:nvSpPr>
        <p:spPr>
          <a:xfrm>
            <a:off x="803873" y="1152592"/>
            <a:ext cx="7536253" cy="4764024"/>
          </a:xfrm>
        </p:spPr>
        <p:txBody>
          <a:bodyPr>
            <a:normAutofit fontScale="92500" lnSpcReduction="20000"/>
          </a:bodyPr>
          <a:lstStyle/>
          <a:p>
            <a:pPr marL="0" indent="0">
              <a:buNone/>
            </a:pPr>
            <a:r>
              <a:rPr lang="en-AU" sz="2800" b="1" dirty="0"/>
              <a:t>What to include in the video: </a:t>
            </a:r>
            <a:endParaRPr lang="en-AU" sz="1800" b="1" i="1" dirty="0"/>
          </a:p>
          <a:p>
            <a:r>
              <a:rPr lang="en-AU" sz="2800" dirty="0"/>
              <a:t>briefly discuss how the use of AI-powered fraud detection system can improve banking security if it is used responsibly.</a:t>
            </a:r>
          </a:p>
          <a:p>
            <a:r>
              <a:rPr lang="en-AU" sz="2800" dirty="0"/>
              <a:t>briefly discuss the principles you proposed in your Research Report (i.e., Part A)</a:t>
            </a:r>
          </a:p>
          <a:p>
            <a:r>
              <a:rPr lang="en-AU" sz="2800" dirty="0"/>
              <a:t>advise and convince the public (e.g. students, faculty, university staff, perspective of student unions, and educational advocacy organisations)on </a:t>
            </a:r>
            <a:r>
              <a:rPr lang="en-AU" sz="2800" dirty="0">
                <a:solidFill>
                  <a:srgbClr val="0070C0"/>
                </a:solidFill>
              </a:rPr>
              <a:t>how the proposed principles can effectively address ethical concerns they may have regarding the use of SecureBank’s fraud detection AI</a:t>
            </a:r>
            <a:r>
              <a:rPr lang="en-AU" sz="2800" dirty="0"/>
              <a:t>. It is important that you </a:t>
            </a:r>
            <a:r>
              <a:rPr lang="en-AU" sz="2800" u="sng" dirty="0">
                <a:solidFill>
                  <a:srgbClr val="0070C0"/>
                </a:solidFill>
              </a:rPr>
              <a:t>use examples to persuade</a:t>
            </a:r>
            <a:r>
              <a:rPr lang="en-AU" sz="2800" dirty="0"/>
              <a:t> them. </a:t>
            </a:r>
          </a:p>
          <a:p>
            <a:endParaRPr lang="en-AU" sz="2800" dirty="0"/>
          </a:p>
        </p:txBody>
      </p:sp>
      <p:sp>
        <p:nvSpPr>
          <p:cNvPr id="4" name="Slide Number Placeholder 3"/>
          <p:cNvSpPr>
            <a:spLocks noGrp="1"/>
          </p:cNvSpPr>
          <p:nvPr>
            <p:ph type="sldNum" sz="quarter" idx="12"/>
          </p:nvPr>
        </p:nvSpPr>
        <p:spPr/>
        <p:txBody>
          <a:bodyPr/>
          <a:lstStyle/>
          <a:p>
            <a:fld id="{2B9A8D90-C648-A64E-96CB-46211FFE4E80}" type="slidenum">
              <a:rPr lang="en-US" smtClean="0"/>
              <a:pPr/>
              <a:t>10</a:t>
            </a:fld>
            <a:endParaRPr lang="en-US"/>
          </a:p>
        </p:txBody>
      </p:sp>
    </p:spTree>
    <p:extLst>
      <p:ext uri="{BB962C8B-B14F-4D97-AF65-F5344CB8AC3E}">
        <p14:creationId xmlns:p14="http://schemas.microsoft.com/office/powerpoint/2010/main" val="1964418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43" y="350954"/>
            <a:ext cx="8599782" cy="954701"/>
          </a:xfrm>
        </p:spPr>
        <p:txBody>
          <a:bodyPr>
            <a:normAutofit/>
          </a:bodyPr>
          <a:lstStyle/>
          <a:p>
            <a:pPr algn="ctr"/>
            <a:r>
              <a:rPr lang="en-AU" sz="2200" b="1" dirty="0"/>
              <a:t>Part b: video presentation (ctn.)</a:t>
            </a:r>
          </a:p>
        </p:txBody>
      </p:sp>
      <p:sp>
        <p:nvSpPr>
          <p:cNvPr id="3" name="Content Placeholder 2"/>
          <p:cNvSpPr>
            <a:spLocks noGrp="1"/>
          </p:cNvSpPr>
          <p:nvPr>
            <p:ph idx="1"/>
          </p:nvPr>
        </p:nvSpPr>
        <p:spPr>
          <a:xfrm>
            <a:off x="826936" y="1305655"/>
            <a:ext cx="7378018" cy="3739947"/>
          </a:xfrm>
        </p:spPr>
        <p:txBody>
          <a:bodyPr>
            <a:normAutofit/>
          </a:bodyPr>
          <a:lstStyle/>
          <a:p>
            <a:pPr marL="0" indent="0">
              <a:buNone/>
            </a:pPr>
            <a:r>
              <a:rPr lang="en-AU" sz="2800" b="1" dirty="0"/>
              <a:t>How to record and submit the video presentation: </a:t>
            </a:r>
          </a:p>
          <a:p>
            <a:pPr marL="0" indent="0">
              <a:buNone/>
            </a:pPr>
            <a:r>
              <a:rPr lang="en-AU" sz="2400" dirty="0"/>
              <a:t>Please see the following resources:</a:t>
            </a:r>
          </a:p>
          <a:p>
            <a:r>
              <a:rPr lang="en-AU" sz="2400" dirty="0">
                <a:solidFill>
                  <a:srgbClr val="0070C0"/>
                </a:solidFill>
              </a:rPr>
              <a:t>Oral Communication Toolkit </a:t>
            </a:r>
            <a:r>
              <a:rPr lang="en-AU" sz="2400" dirty="0"/>
              <a:t>under Assignment resources on the unit site.</a:t>
            </a:r>
          </a:p>
          <a:p>
            <a:r>
              <a:rPr lang="en-AU" sz="2400" dirty="0">
                <a:solidFill>
                  <a:srgbClr val="0070C0"/>
                </a:solidFill>
              </a:rPr>
              <a:t>Instructions for Recording and Submitting Assignment 2 Part B-Video presentation</a:t>
            </a:r>
            <a:r>
              <a:rPr lang="en-AU" sz="2400" dirty="0"/>
              <a:t>.</a:t>
            </a:r>
          </a:p>
        </p:txBody>
      </p:sp>
      <p:sp>
        <p:nvSpPr>
          <p:cNvPr id="4" name="Slide Number Placeholder 3"/>
          <p:cNvSpPr>
            <a:spLocks noGrp="1"/>
          </p:cNvSpPr>
          <p:nvPr>
            <p:ph type="sldNum" sz="quarter" idx="12"/>
          </p:nvPr>
        </p:nvSpPr>
        <p:spPr/>
        <p:txBody>
          <a:bodyPr/>
          <a:lstStyle/>
          <a:p>
            <a:fld id="{2B9A8D90-C648-A64E-96CB-46211FFE4E80}" type="slidenum">
              <a:rPr lang="en-US" smtClean="0"/>
              <a:pPr/>
              <a:t>11</a:t>
            </a:fld>
            <a:endParaRPr lang="en-US"/>
          </a:p>
        </p:txBody>
      </p:sp>
    </p:spTree>
    <p:extLst>
      <p:ext uri="{BB962C8B-B14F-4D97-AF65-F5344CB8AC3E}">
        <p14:creationId xmlns:p14="http://schemas.microsoft.com/office/powerpoint/2010/main" val="2096101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43" y="350954"/>
            <a:ext cx="8599782" cy="954701"/>
          </a:xfrm>
        </p:spPr>
        <p:txBody>
          <a:bodyPr>
            <a:normAutofit/>
          </a:bodyPr>
          <a:lstStyle/>
          <a:p>
            <a:pPr algn="ctr"/>
            <a:r>
              <a:rPr lang="en-AU" sz="2200" b="1" dirty="0"/>
              <a:t>Assignment 2 submission</a:t>
            </a:r>
          </a:p>
        </p:txBody>
      </p:sp>
      <p:sp>
        <p:nvSpPr>
          <p:cNvPr id="3" name="Content Placeholder 2"/>
          <p:cNvSpPr>
            <a:spLocks noGrp="1"/>
          </p:cNvSpPr>
          <p:nvPr>
            <p:ph idx="1"/>
          </p:nvPr>
        </p:nvSpPr>
        <p:spPr>
          <a:xfrm>
            <a:off x="803873" y="1305655"/>
            <a:ext cx="7536253" cy="4764024"/>
          </a:xfrm>
        </p:spPr>
        <p:txBody>
          <a:bodyPr>
            <a:normAutofit/>
          </a:bodyPr>
          <a:lstStyle/>
          <a:p>
            <a:pPr marL="0" indent="0">
              <a:buNone/>
            </a:pPr>
            <a:r>
              <a:rPr lang="en-AU" sz="2800" dirty="0"/>
              <a:t>- </a:t>
            </a:r>
            <a:r>
              <a:rPr lang="en-AU" sz="2400" dirty="0"/>
              <a:t>Submit your Research Report (Part A) to </a:t>
            </a:r>
            <a:r>
              <a:rPr lang="en-AU" sz="2400" dirty="0">
                <a:solidFill>
                  <a:srgbClr val="0070C0"/>
                </a:solidFill>
              </a:rPr>
              <a:t>Assignment 2 Dropbox </a:t>
            </a:r>
            <a:r>
              <a:rPr lang="en-AU" sz="2400" dirty="0"/>
              <a:t>on the MIS715 unit site.</a:t>
            </a:r>
          </a:p>
          <a:p>
            <a:pPr>
              <a:buFontTx/>
              <a:buChar char="-"/>
            </a:pPr>
            <a:r>
              <a:rPr lang="en-AU" sz="2400" dirty="0"/>
              <a:t>Upload your video presentation (Part B) to </a:t>
            </a:r>
            <a:r>
              <a:rPr lang="en-AU" sz="2400" dirty="0">
                <a:solidFill>
                  <a:srgbClr val="0070C0"/>
                </a:solidFill>
              </a:rPr>
              <a:t>Panopto.</a:t>
            </a:r>
          </a:p>
          <a:p>
            <a:pPr>
              <a:buFontTx/>
              <a:buChar char="-"/>
            </a:pPr>
            <a:r>
              <a:rPr lang="en-AU" sz="2400" dirty="0">
                <a:solidFill>
                  <a:srgbClr val="0070C0"/>
                </a:solidFill>
              </a:rPr>
              <a:t> </a:t>
            </a:r>
            <a:r>
              <a:rPr lang="en-AU" sz="2400" u="sng" dirty="0">
                <a:solidFill>
                  <a:srgbClr val="FF0000"/>
                </a:solidFill>
              </a:rPr>
              <a:t>See the instructions for recording and submitting your video presentation </a:t>
            </a:r>
            <a:r>
              <a:rPr lang="en-AU" sz="2400" dirty="0"/>
              <a:t>in the Assignment 2 resource folder on the unit site.</a:t>
            </a:r>
          </a:p>
        </p:txBody>
      </p:sp>
      <p:sp>
        <p:nvSpPr>
          <p:cNvPr id="4" name="Slide Number Placeholder 3"/>
          <p:cNvSpPr>
            <a:spLocks noGrp="1"/>
          </p:cNvSpPr>
          <p:nvPr>
            <p:ph type="sldNum" sz="quarter" idx="12"/>
          </p:nvPr>
        </p:nvSpPr>
        <p:spPr/>
        <p:txBody>
          <a:bodyPr/>
          <a:lstStyle/>
          <a:p>
            <a:fld id="{2B9A8D90-C648-A64E-96CB-46211FFE4E80}" type="slidenum">
              <a:rPr lang="en-US" smtClean="0"/>
              <a:pPr/>
              <a:t>12</a:t>
            </a:fld>
            <a:endParaRPr lang="en-US"/>
          </a:p>
        </p:txBody>
      </p:sp>
    </p:spTree>
    <p:extLst>
      <p:ext uri="{BB962C8B-B14F-4D97-AF65-F5344CB8AC3E}">
        <p14:creationId xmlns:p14="http://schemas.microsoft.com/office/powerpoint/2010/main" val="1826965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a:spLocks noGrp="1" noChangeArrowheads="1"/>
          </p:cNvSpPr>
          <p:nvPr>
            <p:ph type="title"/>
          </p:nvPr>
        </p:nvSpPr>
        <p:spPr>
          <a:xfrm>
            <a:off x="685800" y="408432"/>
            <a:ext cx="7772400" cy="910005"/>
          </a:xfrm>
        </p:spPr>
        <p:txBody>
          <a:bodyPr>
            <a:noAutofit/>
          </a:bodyPr>
          <a:lstStyle/>
          <a:p>
            <a:pPr algn="ctr" eaLnBrk="1" fontAlgn="auto" hangingPunct="1">
              <a:spcAft>
                <a:spcPts val="0"/>
              </a:spcAft>
              <a:defRPr/>
            </a:pPr>
            <a:r>
              <a:rPr lang="en-AU" sz="2800" b="1" dirty="0"/>
              <a:t> Q&amp;A</a:t>
            </a:r>
          </a:p>
        </p:txBody>
      </p:sp>
      <p:sp>
        <p:nvSpPr>
          <p:cNvPr id="4" name="Content Placeholder 3">
            <a:extLst>
              <a:ext uri="{FF2B5EF4-FFF2-40B4-BE49-F238E27FC236}">
                <a16:creationId xmlns:a16="http://schemas.microsoft.com/office/drawing/2014/main" id="{F698EE11-FE13-616E-8EC0-443B26CD5848}"/>
              </a:ext>
            </a:extLst>
          </p:cNvPr>
          <p:cNvSpPr>
            <a:spLocks noGrp="1"/>
          </p:cNvSpPr>
          <p:nvPr>
            <p:ph idx="1"/>
          </p:nvPr>
        </p:nvSpPr>
        <p:spPr>
          <a:xfrm>
            <a:off x="685800" y="1403604"/>
            <a:ext cx="7772400" cy="4050792"/>
          </a:xfrm>
        </p:spPr>
        <p:txBody>
          <a:bodyPr>
            <a:normAutofit/>
          </a:bodyPr>
          <a:lstStyle/>
          <a:p>
            <a:r>
              <a:rPr lang="en-AU" sz="2400" dirty="0"/>
              <a:t>DUE DATE: </a:t>
            </a:r>
            <a:r>
              <a:rPr lang="en-AU" sz="2400" b="1" dirty="0"/>
              <a:t>Friday</a:t>
            </a:r>
            <a:r>
              <a:rPr lang="en-AU" sz="2400" b="1"/>
              <a:t>, 30 May, 2025 </a:t>
            </a:r>
            <a:r>
              <a:rPr lang="en-AU" sz="2400"/>
              <a:t>by </a:t>
            </a:r>
            <a:r>
              <a:rPr lang="en-AU" sz="2400" dirty="0"/>
              <a:t>8:00pm (Melbourne time)</a:t>
            </a:r>
          </a:p>
          <a:p>
            <a:r>
              <a:rPr lang="en-AU" sz="2400" dirty="0"/>
              <a:t>PERCENTAGE OF FINAL GRADE: </a:t>
            </a:r>
            <a:r>
              <a:rPr lang="en-AU" sz="2400" b="1" dirty="0"/>
              <a:t>60% (Part A: 40%, Part B: 20%)</a:t>
            </a:r>
          </a:p>
          <a:p>
            <a:r>
              <a:rPr lang="en-AU" sz="2400" dirty="0"/>
              <a:t>Part A (word count): </a:t>
            </a:r>
            <a:r>
              <a:rPr lang="en-AU" sz="2400" b="1" dirty="0"/>
              <a:t>Maximum number of 2000 words </a:t>
            </a:r>
            <a:r>
              <a:rPr lang="en-AU" sz="2400" dirty="0"/>
              <a:t>(excluding cover page and reference list). </a:t>
            </a:r>
          </a:p>
          <a:p>
            <a:r>
              <a:rPr lang="en-AU" sz="2400" dirty="0"/>
              <a:t>Part B: 7 minutes video</a:t>
            </a:r>
          </a:p>
          <a:p>
            <a:endParaRPr lang="en-AU" sz="2800" dirty="0"/>
          </a:p>
        </p:txBody>
      </p:sp>
      <p:sp>
        <p:nvSpPr>
          <p:cNvPr id="2" name="Slide Number Placeholder 1"/>
          <p:cNvSpPr>
            <a:spLocks noGrp="1"/>
          </p:cNvSpPr>
          <p:nvPr>
            <p:ph type="sldNum" sz="quarter" idx="12"/>
          </p:nvPr>
        </p:nvSpPr>
        <p:spPr/>
        <p:txBody>
          <a:bodyPr/>
          <a:lstStyle/>
          <a:p>
            <a:fld id="{2B9A8D90-C648-A64E-96CB-46211FFE4E80}" type="slidenum">
              <a:rPr lang="en-US" smtClean="0"/>
              <a:pPr/>
              <a:t>13</a:t>
            </a:fld>
            <a:endParaRPr lang="en-US"/>
          </a:p>
        </p:txBody>
      </p:sp>
      <p:pic>
        <p:nvPicPr>
          <p:cNvPr id="5" name="Picture 4"/>
          <p:cNvPicPr>
            <a:picLocks noChangeAspect="1"/>
          </p:cNvPicPr>
          <p:nvPr/>
        </p:nvPicPr>
        <p:blipFill>
          <a:blip r:embed="rId3"/>
          <a:stretch>
            <a:fillRect/>
          </a:stretch>
        </p:blipFill>
        <p:spPr>
          <a:xfrm>
            <a:off x="3722518" y="4573822"/>
            <a:ext cx="1698963" cy="1698963"/>
          </a:xfrm>
          <a:prstGeom prst="rect">
            <a:avLst/>
          </a:prstGeom>
        </p:spPr>
      </p:pic>
    </p:spTree>
    <p:extLst>
      <p:ext uri="{BB962C8B-B14F-4D97-AF65-F5344CB8AC3E}">
        <p14:creationId xmlns:p14="http://schemas.microsoft.com/office/powerpoint/2010/main" val="755877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a:spLocks noGrp="1" noChangeArrowheads="1"/>
          </p:cNvSpPr>
          <p:nvPr>
            <p:ph type="title"/>
          </p:nvPr>
        </p:nvSpPr>
        <p:spPr>
          <a:xfrm>
            <a:off x="685800" y="408432"/>
            <a:ext cx="7772400" cy="910005"/>
          </a:xfrm>
        </p:spPr>
        <p:txBody>
          <a:bodyPr>
            <a:noAutofit/>
          </a:bodyPr>
          <a:lstStyle/>
          <a:p>
            <a:pPr algn="ctr" eaLnBrk="1" fontAlgn="auto" hangingPunct="1">
              <a:spcAft>
                <a:spcPts val="0"/>
              </a:spcAft>
              <a:defRPr/>
            </a:pPr>
            <a:r>
              <a:rPr lang="en-AU" sz="2800" b="1" dirty="0"/>
              <a:t>Assignment 2 consultation</a:t>
            </a:r>
          </a:p>
        </p:txBody>
      </p:sp>
      <p:sp>
        <p:nvSpPr>
          <p:cNvPr id="4" name="Content Placeholder 3">
            <a:extLst>
              <a:ext uri="{FF2B5EF4-FFF2-40B4-BE49-F238E27FC236}">
                <a16:creationId xmlns:a16="http://schemas.microsoft.com/office/drawing/2014/main" id="{F698EE11-FE13-616E-8EC0-443B26CD5848}"/>
              </a:ext>
            </a:extLst>
          </p:cNvPr>
          <p:cNvSpPr>
            <a:spLocks noGrp="1"/>
          </p:cNvSpPr>
          <p:nvPr>
            <p:ph idx="1"/>
          </p:nvPr>
        </p:nvSpPr>
        <p:spPr>
          <a:xfrm>
            <a:off x="685800" y="1403604"/>
            <a:ext cx="7772400" cy="4050792"/>
          </a:xfrm>
        </p:spPr>
        <p:txBody>
          <a:bodyPr>
            <a:normAutofit fontScale="92500" lnSpcReduction="10000"/>
          </a:bodyPr>
          <a:lstStyle/>
          <a:p>
            <a:r>
              <a:rPr lang="en-AU" sz="2800" dirty="0">
                <a:solidFill>
                  <a:srgbClr val="FF0000"/>
                </a:solidFill>
              </a:rPr>
              <a:t>Week 10’s seminar </a:t>
            </a:r>
            <a:r>
              <a:rPr lang="en-AU" sz="2800" dirty="0"/>
              <a:t>and </a:t>
            </a:r>
            <a:r>
              <a:rPr lang="en-AU" sz="2800" dirty="0">
                <a:solidFill>
                  <a:srgbClr val="FF0000"/>
                </a:solidFill>
              </a:rPr>
              <a:t>Week 11’s lecture </a:t>
            </a:r>
            <a:r>
              <a:rPr lang="en-AU" sz="2800" dirty="0"/>
              <a:t>are dedicated to help you with assignment 2.</a:t>
            </a:r>
          </a:p>
          <a:p>
            <a:r>
              <a:rPr lang="en-AU" sz="2600" dirty="0"/>
              <a:t>Come prepared to:</a:t>
            </a:r>
          </a:p>
          <a:p>
            <a:pPr lvl="2"/>
            <a:r>
              <a:rPr lang="en-AU" sz="2400" dirty="0"/>
              <a:t>Show and discuss with teaching staff your draft of </a:t>
            </a:r>
            <a:r>
              <a:rPr lang="en-AU" sz="2400"/>
              <a:t>assignment 2.</a:t>
            </a:r>
            <a:endParaRPr lang="en-AU" sz="2400" dirty="0"/>
          </a:p>
          <a:p>
            <a:pPr lvl="2"/>
            <a:r>
              <a:rPr lang="en-AU" sz="2400" dirty="0"/>
              <a:t>Prepare to ask questions and seek feedback on your assignment 2.</a:t>
            </a:r>
          </a:p>
          <a:p>
            <a:r>
              <a:rPr lang="en-AU" sz="3200" dirty="0">
                <a:solidFill>
                  <a:srgbClr val="FF0000"/>
                </a:solidFill>
              </a:rPr>
              <a:t>Note</a:t>
            </a:r>
            <a:r>
              <a:rPr lang="en-AU" sz="2800" dirty="0"/>
              <a:t>: </a:t>
            </a:r>
            <a:r>
              <a:rPr lang="en-AU" sz="2800" dirty="0">
                <a:solidFill>
                  <a:srgbClr val="FF0000"/>
                </a:solidFill>
              </a:rPr>
              <a:t>There will be no seminar in week 11</a:t>
            </a:r>
            <a:r>
              <a:rPr lang="en-AU" sz="2800" dirty="0"/>
              <a:t>. Please use the time to work on the feedback you received in week 10 to improve and further develop your assignment 2.  </a:t>
            </a:r>
          </a:p>
        </p:txBody>
      </p:sp>
      <p:sp>
        <p:nvSpPr>
          <p:cNvPr id="2" name="Slide Number Placeholder 1"/>
          <p:cNvSpPr>
            <a:spLocks noGrp="1"/>
          </p:cNvSpPr>
          <p:nvPr>
            <p:ph type="sldNum" sz="quarter" idx="12"/>
          </p:nvPr>
        </p:nvSpPr>
        <p:spPr/>
        <p:txBody>
          <a:bodyPr/>
          <a:lstStyle/>
          <a:p>
            <a:fld id="{2B9A8D90-C648-A64E-96CB-46211FFE4E80}" type="slidenum">
              <a:rPr lang="en-US" smtClean="0"/>
              <a:pPr/>
              <a:t>14</a:t>
            </a:fld>
            <a:endParaRPr lang="en-US"/>
          </a:p>
        </p:txBody>
      </p:sp>
    </p:spTree>
    <p:extLst>
      <p:ext uri="{BB962C8B-B14F-4D97-AF65-F5344CB8AC3E}">
        <p14:creationId xmlns:p14="http://schemas.microsoft.com/office/powerpoint/2010/main" val="1195795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965CA68E6D0AC42A2848F0BDCAE3B31" ma:contentTypeVersion="10" ma:contentTypeDescription="Create a new document." ma:contentTypeScope="" ma:versionID="51ef891f0c679ea1b1bfec8b5b66f616">
  <xsd:schema xmlns:xsd="http://www.w3.org/2001/XMLSchema" xmlns:xs="http://www.w3.org/2001/XMLSchema" xmlns:p="http://schemas.microsoft.com/office/2006/metadata/properties" xmlns:ns3="840a9135-86bd-4ad9-bf2c-c342a63a6e21" targetNamespace="http://schemas.microsoft.com/office/2006/metadata/properties" ma:root="true" ma:fieldsID="71eeb3ef46afeaa1778848033a431d0a" ns3:_="">
    <xsd:import namespace="840a9135-86bd-4ad9-bf2c-c342a63a6e21"/>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EventHashCode" minOccurs="0"/>
                <xsd:element ref="ns3:MediaServiceGenerationTim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0a9135-86bd-4ad9-bf2c-c342a63a6e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EB5777-BC0F-4A35-B9CA-3783C753837D}">
  <ds:schemaRefs>
    <ds:schemaRef ds:uri="http://schemas.microsoft.com/sharepoint/v3/contenttype/forms"/>
  </ds:schemaRefs>
</ds:datastoreItem>
</file>

<file path=customXml/itemProps2.xml><?xml version="1.0" encoding="utf-8"?>
<ds:datastoreItem xmlns:ds="http://schemas.openxmlformats.org/officeDocument/2006/customXml" ds:itemID="{743C626C-36CB-4034-9417-5CDACC54C1CE}">
  <ds:schemaRefs>
    <ds:schemaRef ds:uri="http://schemas.microsoft.com/office/2006/documentManagement/types"/>
    <ds:schemaRef ds:uri="http://purl.org/dc/elements/1.1/"/>
    <ds:schemaRef ds:uri="840a9135-86bd-4ad9-bf2c-c342a63a6e21"/>
    <ds:schemaRef ds:uri="http://schemas.microsoft.com/office/2006/metadata/properties"/>
    <ds:schemaRef ds:uri="http://purl.org/dc/dcmitype/"/>
    <ds:schemaRef ds:uri="http://purl.org/dc/term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AAACAFD-487B-4D23-9D2F-CD113C1080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0a9135-86bd-4ad9-bf2c-c342a63a6e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Wood Type</Template>
  <TotalTime>1576</TotalTime>
  <Words>1102</Words>
  <Application>Microsoft Macintosh PowerPoint</Application>
  <PresentationFormat>On-screen Show (4:3)</PresentationFormat>
  <Paragraphs>95</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Rockwell</vt:lpstr>
      <vt:lpstr>Rockwell Condensed</vt:lpstr>
      <vt:lpstr>Rockwell Extra Bold</vt:lpstr>
      <vt:lpstr>Wingdings</vt:lpstr>
      <vt:lpstr>Wood Type</vt:lpstr>
      <vt:lpstr>Assignment 2 Hints</vt:lpstr>
      <vt:lpstr>Content</vt:lpstr>
      <vt:lpstr>Assignment: Plan of attack</vt:lpstr>
      <vt:lpstr>Part A: Research report</vt:lpstr>
      <vt:lpstr>Part A: Research report (ctn.)</vt:lpstr>
      <vt:lpstr>Part A: Research report (ctn.)</vt:lpstr>
      <vt:lpstr>Part A: Research report (ctn.)</vt:lpstr>
      <vt:lpstr>Part A: Research report (ctn.)</vt:lpstr>
      <vt:lpstr>Part b: video presentation</vt:lpstr>
      <vt:lpstr>Part b: video presentation (ctn.)</vt:lpstr>
      <vt:lpstr>Part b: video presentation (ctn.)</vt:lpstr>
      <vt:lpstr>Assignment 2 submission</vt:lpstr>
      <vt:lpstr> Q&amp;A</vt:lpstr>
      <vt:lpstr>Assignment 2 consultation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3  Introduction to  Data Warehousing</dc:title>
  <dc:creator>Jay Zeal</dc:creator>
  <cp:lastModifiedBy>Jayson Lamchek</cp:lastModifiedBy>
  <cp:revision>102</cp:revision>
  <cp:lastPrinted>2019-04-11T07:09:34Z</cp:lastPrinted>
  <dcterms:created xsi:type="dcterms:W3CDTF">2017-03-19T06:04:37Z</dcterms:created>
  <dcterms:modified xsi:type="dcterms:W3CDTF">2025-04-05T02:58:17Z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0x010100F965CA68E6D0AC42A2848F0BDCAE3B31</vt:lpwstr>
  </property>
</Properties>
</file>